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3A16323E-D9DB-471C-93A2-94D2A5116A70}">
          <p14:sldIdLst>
            <p14:sldId id="256"/>
            <p14:sldId id="257"/>
          </p14:sldIdLst>
        </p14:section>
        <p14:section name="C4" id="{56F5B2D3-3FB2-4C90-960E-C7D39CF7D693}">
          <p14:sldIdLst>
            <p14:sldId id="258"/>
            <p14:sldId id="259"/>
            <p14:sldId id="260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LLVM" id="{23C0F73A-6DDF-459C-A4A2-2B92DDA0F8A0}">
          <p14:sldIdLst>
            <p14:sldId id="269"/>
            <p14:sldId id="270"/>
            <p14:sldId id="271"/>
            <p14:sldId id="272"/>
            <p14:sldId id="273"/>
          </p14:sldIdLst>
        </p14:section>
        <p14:section name="Vége" id="{5C470BD7-9B2D-426D-A91B-88346186188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79D83-1EE4-4486-9CB3-1A65F82486AF}" type="datetimeFigureOut">
              <a:rPr lang="hu-HU" smtClean="0"/>
              <a:t>2025-05-22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C0C65-8C1D-479D-ADCF-E05893E03E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4155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C0AB-D7F7-4E3F-9225-2D5849585645}" type="datetime1">
              <a:rPr lang="hu-HU" smtClean="0"/>
              <a:t>2025-05-22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734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312D4-34C9-407E-9D3D-75AC9AC14EE9}" type="datetime1">
              <a:rPr lang="hu-HU" smtClean="0"/>
              <a:t>2025-05-22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14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46DD0-33D1-4804-911C-01C02C4DCE6F}" type="datetime1">
              <a:rPr lang="hu-HU" smtClean="0"/>
              <a:t>2025-05-22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408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EF82-1E85-45DC-B2DE-BC35FE8F403B}" type="datetime1">
              <a:rPr lang="hu-HU" smtClean="0"/>
              <a:t>2025-05-22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480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A7310-9D4C-4289-90CC-D83698F0CCC5}" type="datetime1">
              <a:rPr lang="hu-HU" smtClean="0"/>
              <a:t>2025-05-22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716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EBD3-0EA4-4C4B-B838-FB9240EFAFE7}" type="datetime1">
              <a:rPr lang="hu-HU" smtClean="0"/>
              <a:t>2025-05-22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989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1735-B8AA-41D2-A3DA-8F10AB5F0E5B}" type="datetime1">
              <a:rPr lang="hu-HU" smtClean="0"/>
              <a:t>2025-05-22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77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4E98-3838-4AC5-81B1-A7BB9CE20108}" type="datetime1">
              <a:rPr lang="hu-HU" smtClean="0"/>
              <a:t>2025-05-22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43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A8AA9-EED2-4630-9129-11E4BCEAEF96}" type="datetime1">
              <a:rPr lang="hu-HU" smtClean="0"/>
              <a:t>2025-05-22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554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59D1-FAA0-4B2F-B1A2-EE63EF337FBA}" type="datetime1">
              <a:rPr lang="hu-HU" smtClean="0"/>
              <a:t>2025-05-22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940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02B-995E-42E6-BCC2-700583D7AA5C}" type="datetime1">
              <a:rPr lang="hu-HU" smtClean="0"/>
              <a:t>2025-05-22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809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EDB8F-4E7B-41C5-A1D3-3D10B5F91956}" type="datetime1">
              <a:rPr lang="hu-HU" smtClean="0"/>
              <a:t>2025-05-22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Fordítóprogramok -- C4 nyelv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60E00-C5E1-434B-B5EB-CA0CD3E6ED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140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IBM Plex Sans" panose="020B050305020300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F81731-E972-4F17-78B7-896A900E8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hu-HU" noProof="0" dirty="0"/>
              <a:t>Fordítóprogramok készítése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0264566-43A9-5F0F-9480-C02B4A0E23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noProof="0" dirty="0"/>
              <a:t>BMEVIIIML10 — Önállólaboratórium 1 </a:t>
            </a:r>
          </a:p>
          <a:p>
            <a:r>
              <a:rPr lang="hu-HU" noProof="0" dirty="0"/>
              <a:t>Beszámoló</a:t>
            </a:r>
          </a:p>
          <a:p>
            <a:pPr>
              <a:tabLst>
                <a:tab pos="179388" algn="l"/>
                <a:tab pos="4487863" algn="l"/>
              </a:tabLst>
            </a:pPr>
            <a:r>
              <a:rPr lang="hu-HU" noProof="0" dirty="0"/>
              <a:t>	Bodor András	Dr. Simon Balázs</a:t>
            </a:r>
          </a:p>
          <a:p>
            <a:pPr>
              <a:tabLst>
                <a:tab pos="4487863" algn="l"/>
              </a:tabLst>
            </a:pPr>
            <a:r>
              <a:rPr lang="hu-HU" noProof="0" dirty="0"/>
              <a:t>Készítette	Konzulens</a:t>
            </a:r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ECF89D8D-60A9-C265-7091-06ECD7F25BBE}"/>
              </a:ext>
            </a:extLst>
          </p:cNvPr>
          <p:cNvCxnSpPr>
            <a:cxnSpLocks/>
          </p:cNvCxnSpPr>
          <p:nvPr/>
        </p:nvCxnSpPr>
        <p:spPr>
          <a:xfrm>
            <a:off x="227566" y="2336098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39">
            <a:extLst>
              <a:ext uri="{FF2B5EF4-FFF2-40B4-BE49-F238E27FC236}">
                <a16:creationId xmlns:a16="http://schemas.microsoft.com/office/drawing/2014/main" id="{24590D40-AC66-7777-93D5-66EC73E7D395}"/>
              </a:ext>
            </a:extLst>
          </p:cNvPr>
          <p:cNvSpPr/>
          <p:nvPr/>
        </p:nvSpPr>
        <p:spPr>
          <a:xfrm>
            <a:off x="112232" y="7535016"/>
            <a:ext cx="230668" cy="230668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  <p:sp>
        <p:nvSpPr>
          <p:cNvPr id="6" name="Oval 39">
            <a:extLst>
              <a:ext uri="{FF2B5EF4-FFF2-40B4-BE49-F238E27FC236}">
                <a16:creationId xmlns:a16="http://schemas.microsoft.com/office/drawing/2014/main" id="{CA543641-DD79-1933-1625-8654BAA7BEDE}"/>
              </a:ext>
            </a:extLst>
          </p:cNvPr>
          <p:cNvSpPr/>
          <p:nvPr/>
        </p:nvSpPr>
        <p:spPr>
          <a:xfrm>
            <a:off x="74132" y="2154163"/>
            <a:ext cx="324000" cy="324000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7240F-CD4C-1A3F-C1FB-DF3CFFE56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41B3A-9297-460F-A867-ADBEB4CF01E5}" type="datetime1">
              <a:rPr lang="hu-HU" smtClean="0"/>
              <a:t>2025-05-22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105593-5A07-49B5-04D0-2E7C558E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7E78C4-6FE2-8E08-4B0C-77867998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56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A694A4-13CD-BA45-2126-34A70EAE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/>
              <a:t>Célok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3B8AA5-6A97-7874-5DE9-55028CA29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11675"/>
          </a:xfrm>
        </p:spPr>
        <p:txBody>
          <a:bodyPr/>
          <a:lstStyle/>
          <a:p>
            <a:r>
              <a:rPr lang="hu-HU" noProof="0" dirty="0"/>
              <a:t>C és C++ projektek AST-</a:t>
            </a:r>
            <a:r>
              <a:rPr lang="hu-HU" noProof="0" dirty="0" err="1"/>
              <a:t>jében</a:t>
            </a:r>
            <a:r>
              <a:rPr lang="hu-HU" noProof="0" dirty="0"/>
              <a:t> való keresés</a:t>
            </a:r>
          </a:p>
          <a:p>
            <a:endParaRPr lang="en-US" noProof="0" dirty="0"/>
          </a:p>
          <a:p>
            <a:r>
              <a:rPr lang="hu-HU" noProof="0" dirty="0" err="1"/>
              <a:t>Clang-Tidy</a:t>
            </a:r>
            <a:r>
              <a:rPr lang="hu-HU" noProof="0" dirty="0"/>
              <a:t>, csak </a:t>
            </a:r>
            <a:r>
              <a:rPr lang="en-US" noProof="0" dirty="0" err="1"/>
              <a:t>scriptelhető</a:t>
            </a:r>
            <a:endParaRPr lang="en-US" noProof="0" dirty="0"/>
          </a:p>
          <a:p>
            <a:r>
              <a:rPr lang="hu-HU" noProof="0" dirty="0"/>
              <a:t>AWK, csak strukturált AST bemeneten</a:t>
            </a:r>
          </a:p>
          <a:p>
            <a:endParaRPr lang="hu-HU" noProof="0" dirty="0"/>
          </a:p>
          <a:p>
            <a:r>
              <a:rPr lang="hu-HU" noProof="0" dirty="0"/>
              <a:t>Ehhez kell egy nyelv</a:t>
            </a:r>
          </a:p>
          <a:p>
            <a:pPr lvl="1"/>
            <a:r>
              <a:rPr lang="hu-HU" noProof="0" dirty="0"/>
              <a:t>Megfelelően rugalmas egy kereső DSL-</a:t>
            </a:r>
            <a:r>
              <a:rPr lang="hu-HU" noProof="0" dirty="0" err="1"/>
              <a:t>hez</a:t>
            </a:r>
            <a:endParaRPr lang="hu-HU" noProof="0" dirty="0"/>
          </a:p>
          <a:p>
            <a:pPr lvl="1"/>
            <a:r>
              <a:rPr lang="hu-HU" noProof="0" dirty="0"/>
              <a:t>Könnyen megérthető</a:t>
            </a:r>
          </a:p>
          <a:p>
            <a:pPr lvl="1"/>
            <a:r>
              <a:rPr lang="hu-HU" noProof="0" dirty="0"/>
              <a:t>Nem (csak) fordított, JIT/</a:t>
            </a:r>
            <a:r>
              <a:rPr lang="hu-HU" noProof="0" dirty="0" err="1"/>
              <a:t>Interpreter</a:t>
            </a:r>
            <a:r>
              <a:rPr lang="hu-HU" noProof="0" dirty="0"/>
              <a:t> előnyösebb</a:t>
            </a:r>
          </a:p>
        </p:txBody>
      </p:sp>
      <p:cxnSp>
        <p:nvCxnSpPr>
          <p:cNvPr id="6" name="Straight Connector 33">
            <a:extLst>
              <a:ext uri="{FF2B5EF4-FFF2-40B4-BE49-F238E27FC236}">
                <a16:creationId xmlns:a16="http://schemas.microsoft.com/office/drawing/2014/main" id="{C191B9B6-97B6-E110-F5ED-C1E4C0C7B639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39">
            <a:extLst>
              <a:ext uri="{FF2B5EF4-FFF2-40B4-BE49-F238E27FC236}">
                <a16:creationId xmlns:a16="http://schemas.microsoft.com/office/drawing/2014/main" id="{0FC49D1C-9E7F-90AE-3918-7D95DAB4484D}"/>
              </a:ext>
            </a:extLst>
          </p:cNvPr>
          <p:cNvSpPr/>
          <p:nvPr/>
        </p:nvSpPr>
        <p:spPr>
          <a:xfrm>
            <a:off x="112232" y="905616"/>
            <a:ext cx="230668" cy="230668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43DA7102-65F9-4887-4BA1-B832FCC6972D}"/>
              </a:ext>
            </a:extLst>
          </p:cNvPr>
          <p:cNvGrpSpPr/>
          <p:nvPr/>
        </p:nvGrpSpPr>
        <p:grpSpPr>
          <a:xfrm>
            <a:off x="112232" y="8099836"/>
            <a:ext cx="230668" cy="230668"/>
            <a:chOff x="112232" y="-753501"/>
            <a:chExt cx="230668" cy="230668"/>
          </a:xfrm>
        </p:grpSpPr>
        <p:sp>
          <p:nvSpPr>
            <p:cNvPr id="5" name="Oval 40">
              <a:extLst>
                <a:ext uri="{FF2B5EF4-FFF2-40B4-BE49-F238E27FC236}">
                  <a16:creationId xmlns:a16="http://schemas.microsoft.com/office/drawing/2014/main" id="{902A93ED-C089-9755-EE83-DC89DA88FB2C}"/>
                </a:ext>
              </a:extLst>
            </p:cNvPr>
            <p:cNvSpPr/>
            <p:nvPr/>
          </p:nvSpPr>
          <p:spPr>
            <a:xfrm>
              <a:off x="112232" y="-753501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8" name="Oval 40">
              <a:extLst>
                <a:ext uri="{FF2B5EF4-FFF2-40B4-BE49-F238E27FC236}">
                  <a16:creationId xmlns:a16="http://schemas.microsoft.com/office/drawing/2014/main" id="{F82CF67D-A434-74C3-F27D-1A6F80C9E80B}"/>
                </a:ext>
              </a:extLst>
            </p:cNvPr>
            <p:cNvSpPr/>
            <p:nvPr/>
          </p:nvSpPr>
          <p:spPr>
            <a:xfrm>
              <a:off x="112232" y="-753501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7D5CB00-8008-6F1D-C217-6DC16E38D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464C3-4AB0-4C0D-8935-9DF33AB1EA36}" type="datetime1">
              <a:rPr lang="hu-HU" smtClean="0"/>
              <a:t>2025-05-22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4A36694-0F38-88C6-B5CF-9EB80282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29DCC37-CE8B-D410-97AB-C696C2B6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2</a:t>
            </a:fld>
            <a:endParaRPr lang="en-GB"/>
          </a:p>
        </p:txBody>
      </p:sp>
      <p:sp>
        <p:nvSpPr>
          <p:cNvPr id="12" name="Oval 39">
            <a:extLst>
              <a:ext uri="{FF2B5EF4-FFF2-40B4-BE49-F238E27FC236}">
                <a16:creationId xmlns:a16="http://schemas.microsoft.com/office/drawing/2014/main" id="{50F61DA6-76A9-A6ED-E7C3-73574D7F1E8B}"/>
              </a:ext>
            </a:extLst>
          </p:cNvPr>
          <p:cNvSpPr/>
          <p:nvPr/>
        </p:nvSpPr>
        <p:spPr>
          <a:xfrm>
            <a:off x="74132" y="-354932"/>
            <a:ext cx="324000" cy="324000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105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6C4C4A-85FE-B8F3-2865-5C464B451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753350" cy="4351338"/>
          </a:xfrm>
        </p:spPr>
        <p:txBody>
          <a:bodyPr/>
          <a:lstStyle/>
          <a:p>
            <a:r>
              <a:rPr lang="hu-HU" noProof="0" dirty="0"/>
              <a:t>Nagyon általános/flexibilis szintaxis</a:t>
            </a:r>
          </a:p>
          <a:p>
            <a:r>
              <a:rPr lang="hu-HU" noProof="0" dirty="0"/>
              <a:t>Sokaknak idegen</a:t>
            </a:r>
          </a:p>
          <a:p>
            <a:r>
              <a:rPr lang="hu-HU" noProof="0" dirty="0"/>
              <a:t>Kicsit közelebbi </a:t>
            </a:r>
            <a:br>
              <a:rPr lang="hu-HU" noProof="0" dirty="0"/>
            </a:br>
            <a:r>
              <a:rPr lang="hu-HU" noProof="0" dirty="0"/>
              <a:t>kellene a </a:t>
            </a:r>
            <a:br>
              <a:rPr lang="hu-HU" noProof="0" dirty="0"/>
            </a:br>
            <a:r>
              <a:rPr lang="hu-HU" noProof="0" dirty="0"/>
              <a:t>“megszokott” </a:t>
            </a:r>
            <a:br>
              <a:rPr lang="hu-HU" noProof="0" dirty="0"/>
            </a:br>
            <a:r>
              <a:rPr lang="hu-HU" noProof="0" dirty="0"/>
              <a:t>nyelvekhez</a:t>
            </a:r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CC0EB000-E998-4969-4EBE-22AB39D8151D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ím">
            <a:extLst>
              <a:ext uri="{FF2B5EF4-FFF2-40B4-BE49-F238E27FC236}">
                <a16:creationId xmlns:a16="http://schemas.microsoft.com/office/drawing/2014/main" id="{C12C13BB-A879-46F1-7623-3EA878D36A05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IBM Plex Sans" panose="020B0503050203000203" pitchFamily="34" charset="0"/>
                <a:ea typeface="+mj-ea"/>
                <a:cs typeface="+mj-cs"/>
              </a:defRPr>
            </a:lvl1pPr>
          </a:lstStyle>
          <a:p>
            <a:r>
              <a:rPr lang="hu-HU" noProof="0" dirty="0"/>
              <a:t>LISP</a:t>
            </a:r>
          </a:p>
        </p:txBody>
      </p:sp>
      <p:sp>
        <p:nvSpPr>
          <p:cNvPr id="12" name="Oval 39">
            <a:extLst>
              <a:ext uri="{FF2B5EF4-FFF2-40B4-BE49-F238E27FC236}">
                <a16:creationId xmlns:a16="http://schemas.microsoft.com/office/drawing/2014/main" id="{2C6FC811-34DA-9188-04BF-19D048746382}"/>
              </a:ext>
            </a:extLst>
          </p:cNvPr>
          <p:cNvSpPr/>
          <p:nvPr/>
        </p:nvSpPr>
        <p:spPr>
          <a:xfrm>
            <a:off x="123227" y="-1119576"/>
            <a:ext cx="230668" cy="230668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C03E61E8-2C92-B374-020A-F277CE2C6696}"/>
              </a:ext>
            </a:extLst>
          </p:cNvPr>
          <p:cNvGrpSpPr/>
          <p:nvPr/>
        </p:nvGrpSpPr>
        <p:grpSpPr>
          <a:xfrm>
            <a:off x="4058259" y="2554403"/>
            <a:ext cx="4858174" cy="2333951"/>
            <a:chOff x="3888197" y="3421669"/>
            <a:chExt cx="4858174" cy="2333951"/>
          </a:xfrm>
        </p:grpSpPr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A7EB1742-0361-C063-9B76-19FBFADB1679}"/>
                </a:ext>
              </a:extLst>
            </p:cNvPr>
            <p:cNvSpPr txBox="1"/>
            <p:nvPr/>
          </p:nvSpPr>
          <p:spPr>
            <a:xfrm>
              <a:off x="3944757" y="3421669"/>
              <a:ext cx="1885363" cy="369332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accent3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hu-HU" noProof="0" dirty="0">
                  <a:latin typeface="IBM Plex Mono" panose="020B0509050203000203" pitchFamily="49" charset="0"/>
                </a:rPr>
                <a:t>1 + f(2 * 3)</a:t>
              </a:r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0637A95C-8B18-A6EA-C2C5-A831E6E31A44}"/>
                </a:ext>
              </a:extLst>
            </p:cNvPr>
            <p:cNvSpPr txBox="1"/>
            <p:nvPr/>
          </p:nvSpPr>
          <p:spPr>
            <a:xfrm>
              <a:off x="6205372" y="3421669"/>
              <a:ext cx="2540999" cy="369332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accent3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latin typeface="IBM Plex Mono" panose="020B0509050203000203" pitchFamily="49" charset="0"/>
                </a:defRPr>
              </a:lvl1pPr>
            </a:lstStyle>
            <a:p>
              <a:r>
                <a:rPr lang="hu-HU" noProof="0" dirty="0"/>
                <a:t>(+ 1 (f (* 2 3)))</a:t>
              </a:r>
            </a:p>
          </p:txBody>
        </p:sp>
        <p:sp>
          <p:nvSpPr>
            <p:cNvPr id="2" name="Szövegdoboz 1">
              <a:extLst>
                <a:ext uri="{FF2B5EF4-FFF2-40B4-BE49-F238E27FC236}">
                  <a16:creationId xmlns:a16="http://schemas.microsoft.com/office/drawing/2014/main" id="{27543D87-B060-4B00-A87A-372B2CFAFFD7}"/>
                </a:ext>
              </a:extLst>
            </p:cNvPr>
            <p:cNvSpPr txBox="1"/>
            <p:nvPr/>
          </p:nvSpPr>
          <p:spPr>
            <a:xfrm>
              <a:off x="3888197" y="4001294"/>
              <a:ext cx="1998483" cy="1754326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accent3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latin typeface="IBM Plex Mono" panose="020B0509050203000203" pitchFamily="49" charset="0"/>
                </a:defRPr>
              </a:lvl1pPr>
            </a:lstStyle>
            <a:p>
              <a:pPr algn="l">
                <a:tabLst>
                  <a:tab pos="358775" algn="l"/>
                </a:tabLst>
              </a:pPr>
              <a:r>
                <a:rPr lang="hu-HU" noProof="0" dirty="0" err="1"/>
                <a:t>if</a:t>
              </a:r>
              <a:r>
                <a:rPr lang="hu-HU" noProof="0" dirty="0"/>
                <a:t> (a &gt; 2) {</a:t>
              </a:r>
              <a:br>
                <a:rPr lang="hu-HU" noProof="0" dirty="0"/>
              </a:br>
              <a:r>
                <a:rPr lang="hu-HU" noProof="0" dirty="0"/>
                <a:t>	print(“a”)</a:t>
              </a:r>
              <a:br>
                <a:rPr lang="hu-HU" noProof="0" dirty="0"/>
              </a:br>
              <a:r>
                <a:rPr lang="hu-HU" noProof="0" dirty="0"/>
                <a:t>}</a:t>
              </a:r>
              <a:br>
                <a:rPr lang="hu-HU" noProof="0" dirty="0"/>
              </a:br>
              <a:r>
                <a:rPr lang="hu-HU" noProof="0" dirty="0" err="1"/>
                <a:t>else</a:t>
              </a:r>
              <a:r>
                <a:rPr lang="hu-HU" noProof="0" dirty="0"/>
                <a:t> {</a:t>
              </a:r>
              <a:br>
                <a:rPr lang="hu-HU" noProof="0" dirty="0"/>
              </a:br>
              <a:r>
                <a:rPr lang="hu-HU" noProof="0" dirty="0"/>
                <a:t>	print(“b”)</a:t>
              </a:r>
              <a:br>
                <a:rPr lang="hu-HU" noProof="0" dirty="0"/>
              </a:br>
              <a:r>
                <a:rPr lang="hu-HU" noProof="0" dirty="0"/>
                <a:t>}</a:t>
              </a:r>
            </a:p>
          </p:txBody>
        </p:sp>
        <p:sp>
          <p:nvSpPr>
            <p:cNvPr id="6" name="Szövegdoboz 5">
              <a:extLst>
                <a:ext uri="{FF2B5EF4-FFF2-40B4-BE49-F238E27FC236}">
                  <a16:creationId xmlns:a16="http://schemas.microsoft.com/office/drawing/2014/main" id="{ECA3C286-01F2-42BB-1B88-9393C6FA1276}"/>
                </a:ext>
              </a:extLst>
            </p:cNvPr>
            <p:cNvSpPr txBox="1"/>
            <p:nvPr/>
          </p:nvSpPr>
          <p:spPr>
            <a:xfrm>
              <a:off x="6267767" y="4001294"/>
              <a:ext cx="2416208" cy="92333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accent3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latin typeface="IBM Plex Mono" panose="020B0509050203000203" pitchFamily="49" charset="0"/>
                </a:defRPr>
              </a:lvl1pPr>
            </a:lstStyle>
            <a:p>
              <a:pPr algn="l">
                <a:tabLst>
                  <a:tab pos="442913" algn="l"/>
                </a:tabLst>
              </a:pPr>
              <a:r>
                <a:rPr lang="hu-HU" noProof="0" dirty="0"/>
                <a:t>(</a:t>
              </a:r>
              <a:r>
                <a:rPr lang="hu-HU" noProof="0" dirty="0" err="1"/>
                <a:t>if</a:t>
              </a:r>
              <a:r>
                <a:rPr lang="hu-HU" noProof="0" dirty="0"/>
                <a:t> (&gt; a 2)</a:t>
              </a:r>
              <a:br>
                <a:rPr lang="hu-HU" noProof="0" dirty="0"/>
              </a:br>
              <a:r>
                <a:rPr lang="hu-HU" noProof="0" dirty="0"/>
                <a:t>	(print “a”)</a:t>
              </a:r>
              <a:br>
                <a:rPr lang="hu-HU" noProof="0" dirty="0"/>
              </a:br>
              <a:r>
                <a:rPr lang="hu-HU" noProof="0" dirty="0"/>
                <a:t>	(print “b”))</a:t>
              </a:r>
            </a:p>
          </p:txBody>
        </p:sp>
      </p:grp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3727CF21-194C-65E2-7E5C-7533C50BDA87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-753501"/>
            <a:chExt cx="230668" cy="230668"/>
          </a:xfrm>
        </p:grpSpPr>
        <p:sp>
          <p:nvSpPr>
            <p:cNvPr id="10" name="Oval 40">
              <a:extLst>
                <a:ext uri="{FF2B5EF4-FFF2-40B4-BE49-F238E27FC236}">
                  <a16:creationId xmlns:a16="http://schemas.microsoft.com/office/drawing/2014/main" id="{715900C7-7943-1E72-69E0-73BC54A146B3}"/>
                </a:ext>
              </a:extLst>
            </p:cNvPr>
            <p:cNvSpPr/>
            <p:nvPr/>
          </p:nvSpPr>
          <p:spPr>
            <a:xfrm>
              <a:off x="112232" y="-753501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5" name="Oval 40">
              <a:extLst>
                <a:ext uri="{FF2B5EF4-FFF2-40B4-BE49-F238E27FC236}">
                  <a16:creationId xmlns:a16="http://schemas.microsoft.com/office/drawing/2014/main" id="{A045FF00-EE81-6838-8211-B35D803FA73C}"/>
                </a:ext>
              </a:extLst>
            </p:cNvPr>
            <p:cNvSpPr/>
            <p:nvPr/>
          </p:nvSpPr>
          <p:spPr>
            <a:xfrm>
              <a:off x="112232" y="-753501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2EF99A13-62C3-5E28-195E-646970140ED2}"/>
              </a:ext>
            </a:extLst>
          </p:cNvPr>
          <p:cNvGrpSpPr/>
          <p:nvPr/>
        </p:nvGrpSpPr>
        <p:grpSpPr>
          <a:xfrm>
            <a:off x="112232" y="7298862"/>
            <a:ext cx="230668" cy="230668"/>
            <a:chOff x="112232" y="912573"/>
            <a:chExt cx="230668" cy="230668"/>
          </a:xfrm>
        </p:grpSpPr>
        <p:sp>
          <p:nvSpPr>
            <p:cNvPr id="17" name="Oval 41">
              <a:extLst>
                <a:ext uri="{FF2B5EF4-FFF2-40B4-BE49-F238E27FC236}">
                  <a16:creationId xmlns:a16="http://schemas.microsoft.com/office/drawing/2014/main" id="{77B99CFD-7DD2-87B4-3C1E-F7231D122DF2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8" name="Oval 41">
              <a:extLst>
                <a:ext uri="{FF2B5EF4-FFF2-40B4-BE49-F238E27FC236}">
                  <a16:creationId xmlns:a16="http://schemas.microsoft.com/office/drawing/2014/main" id="{C13CA1C8-8749-93AD-31BD-D5DFC3B77C10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9" name="Oval 41">
              <a:extLst>
                <a:ext uri="{FF2B5EF4-FFF2-40B4-BE49-F238E27FC236}">
                  <a16:creationId xmlns:a16="http://schemas.microsoft.com/office/drawing/2014/main" id="{0B68C58A-7418-973C-D339-429FF1C42E0E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6E166-7287-4237-44BB-44FFF1B31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25C1-B7D2-48FA-A4A3-CF97E7114CA0}" type="datetime1">
              <a:rPr lang="hu-HU" noProof="0" smtClean="0"/>
              <a:t>2025-05-22</a:t>
            </a:fld>
            <a:endParaRPr lang="hu-HU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D374CD-AD9C-72A6-9441-591F4698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noProof="0" dirty="0"/>
              <a:t>Fordítóprogramok -- C4 nyelv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1EEBAF5-EFB8-A387-3A37-DA4F4E9C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hu-HU" noProof="0" smtClean="0"/>
              <a:t>3</a:t>
            </a:fld>
            <a:endParaRPr lang="hu-HU" noProof="0" dirty="0"/>
          </a:p>
        </p:txBody>
      </p:sp>
      <p:sp>
        <p:nvSpPr>
          <p:cNvPr id="21" name="Oval 39">
            <a:extLst>
              <a:ext uri="{FF2B5EF4-FFF2-40B4-BE49-F238E27FC236}">
                <a16:creationId xmlns:a16="http://schemas.microsoft.com/office/drawing/2014/main" id="{C47DDFA2-EDFC-070A-9EF9-B44CEA82248F}"/>
              </a:ext>
            </a:extLst>
          </p:cNvPr>
          <p:cNvSpPr/>
          <p:nvPr/>
        </p:nvSpPr>
        <p:spPr>
          <a:xfrm>
            <a:off x="112232" y="-546111"/>
            <a:ext cx="230668" cy="230668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636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A93C33-B9AB-A8D2-2B67-10FEB61B4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C4	nyelv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292C8D-B4A8-778D-7E97-34C136EF2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Flexibilis szintaktika</a:t>
            </a:r>
          </a:p>
          <a:p>
            <a:pPr lvl="1"/>
            <a:r>
              <a:rPr lang="hu-HU" noProof="0" dirty="0" err="1"/>
              <a:t>LISP+Haskell+Tcl</a:t>
            </a:r>
            <a:r>
              <a:rPr lang="hu-HU" noProof="0" dirty="0"/>
              <a:t>+(kicsi)</a:t>
            </a:r>
            <a:r>
              <a:rPr lang="hu-HU" noProof="0" dirty="0" err="1"/>
              <a:t>Ruby</a:t>
            </a:r>
            <a:endParaRPr lang="hu-HU" noProof="0" dirty="0"/>
          </a:p>
          <a:p>
            <a:r>
              <a:rPr lang="hu-HU" noProof="0" dirty="0"/>
              <a:t>Minden függvény</a:t>
            </a:r>
          </a:p>
          <a:p>
            <a:pPr lvl="1"/>
            <a:r>
              <a:rPr lang="hu-HU" noProof="0" dirty="0"/>
              <a:t>Nincsenek* beépített nyelvi elemek</a:t>
            </a:r>
          </a:p>
          <a:p>
            <a:r>
              <a:rPr lang="hu-HU" noProof="0" dirty="0"/>
              <a:t>Ez nem feltűnő</a:t>
            </a:r>
          </a:p>
          <a:p>
            <a:pPr lvl="1"/>
            <a:r>
              <a:rPr lang="hu-HU" noProof="0" dirty="0"/>
              <a:t>“</a:t>
            </a:r>
            <a:r>
              <a:rPr lang="hu-HU" noProof="0" dirty="0" err="1"/>
              <a:t>if</a:t>
            </a:r>
            <a:r>
              <a:rPr lang="hu-HU" noProof="0" dirty="0"/>
              <a:t>” megszokottan viselkedik, hiába függvény</a:t>
            </a:r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65EE47BC-C085-8785-DD6E-86DE3751F7B0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1F2A73DF-08B7-CB02-F178-472B4C67FA84}"/>
              </a:ext>
            </a:extLst>
          </p:cNvPr>
          <p:cNvSpPr txBox="1"/>
          <p:nvPr/>
        </p:nvSpPr>
        <p:spPr>
          <a:xfrm>
            <a:off x="3572759" y="4644951"/>
            <a:ext cx="1998483" cy="1754326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IBM Plex Mono" panose="020B0509050203000203" pitchFamily="49" charset="0"/>
              </a:defRPr>
            </a:lvl1pPr>
          </a:lstStyle>
          <a:p>
            <a:pPr algn="l">
              <a:tabLst>
                <a:tab pos="358775" algn="l"/>
              </a:tabLst>
            </a:pPr>
            <a:r>
              <a:rPr lang="hu-HU" noProof="0" dirty="0" err="1"/>
              <a:t>if</a:t>
            </a:r>
            <a:r>
              <a:rPr lang="hu-HU" noProof="0" dirty="0"/>
              <a:t> (a &gt; 2) {</a:t>
            </a:r>
            <a:br>
              <a:rPr lang="hu-HU" noProof="0" dirty="0"/>
            </a:br>
            <a:r>
              <a:rPr lang="hu-HU" noProof="0" dirty="0"/>
              <a:t>	print(“a”)</a:t>
            </a:r>
            <a:br>
              <a:rPr lang="hu-HU" noProof="0" dirty="0"/>
            </a:br>
            <a:r>
              <a:rPr lang="hu-HU" noProof="0" dirty="0"/>
              <a:t>}</a:t>
            </a:r>
            <a:br>
              <a:rPr lang="hu-HU" noProof="0" dirty="0"/>
            </a:br>
            <a:r>
              <a:rPr lang="hu-HU" noProof="0" dirty="0" err="1"/>
              <a:t>else</a:t>
            </a:r>
            <a:r>
              <a:rPr lang="hu-HU" noProof="0" dirty="0"/>
              <a:t> {</a:t>
            </a:r>
            <a:br>
              <a:rPr lang="hu-HU" noProof="0" dirty="0"/>
            </a:br>
            <a:r>
              <a:rPr lang="hu-HU" noProof="0" dirty="0"/>
              <a:t>	print(“b”)</a:t>
            </a:r>
            <a:br>
              <a:rPr lang="hu-HU" noProof="0" dirty="0"/>
            </a:br>
            <a:r>
              <a:rPr lang="hu-HU" noProof="0" dirty="0"/>
              <a:t>}</a:t>
            </a:r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75459C2F-8684-9C92-51DC-6ADB6242E1D9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6" name="Oval 41">
              <a:extLst>
                <a:ext uri="{FF2B5EF4-FFF2-40B4-BE49-F238E27FC236}">
                  <a16:creationId xmlns:a16="http://schemas.microsoft.com/office/drawing/2014/main" id="{4EBD11DF-8FCE-3373-1F69-6706A585352D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0" name="Oval 41">
              <a:extLst>
                <a:ext uri="{FF2B5EF4-FFF2-40B4-BE49-F238E27FC236}">
                  <a16:creationId xmlns:a16="http://schemas.microsoft.com/office/drawing/2014/main" id="{A66EFEA4-E56C-27F5-CB78-1745A4283130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1" name="Oval 41">
              <a:extLst>
                <a:ext uri="{FF2B5EF4-FFF2-40B4-BE49-F238E27FC236}">
                  <a16:creationId xmlns:a16="http://schemas.microsoft.com/office/drawing/2014/main" id="{57E8E95F-F5E1-65B7-5434-858982CC872E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07C005A6-96B0-F654-00EB-9D6F7A6E7CD5}"/>
              </a:ext>
            </a:extLst>
          </p:cNvPr>
          <p:cNvGrpSpPr/>
          <p:nvPr/>
        </p:nvGrpSpPr>
        <p:grpSpPr>
          <a:xfrm>
            <a:off x="112232" y="-1322627"/>
            <a:ext cx="230668" cy="230668"/>
            <a:chOff x="112232" y="-753501"/>
            <a:chExt cx="230668" cy="230668"/>
          </a:xfrm>
        </p:grpSpPr>
        <p:sp>
          <p:nvSpPr>
            <p:cNvPr id="14" name="Oval 40">
              <a:extLst>
                <a:ext uri="{FF2B5EF4-FFF2-40B4-BE49-F238E27FC236}">
                  <a16:creationId xmlns:a16="http://schemas.microsoft.com/office/drawing/2014/main" id="{CB531F13-6450-52D2-63AF-B72841F980A4}"/>
                </a:ext>
              </a:extLst>
            </p:cNvPr>
            <p:cNvSpPr/>
            <p:nvPr/>
          </p:nvSpPr>
          <p:spPr>
            <a:xfrm>
              <a:off x="112232" y="-753501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5" name="Oval 40">
              <a:extLst>
                <a:ext uri="{FF2B5EF4-FFF2-40B4-BE49-F238E27FC236}">
                  <a16:creationId xmlns:a16="http://schemas.microsoft.com/office/drawing/2014/main" id="{51ECB368-9785-B077-A941-B7E6420A344C}"/>
                </a:ext>
              </a:extLst>
            </p:cNvPr>
            <p:cNvSpPr/>
            <p:nvPr/>
          </p:nvSpPr>
          <p:spPr>
            <a:xfrm>
              <a:off x="112232" y="-753501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C08F9-1539-136A-FC0C-8DCDD7C04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E8DB2-7A13-4644-8648-7C70ED7E7D35}" type="datetime1">
              <a:rPr lang="hu-HU" smtClean="0"/>
              <a:t>2025-05-22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D68F2-6521-117B-7657-EF1317E7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3A328-B417-857D-7226-FB499A04A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503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57416-891B-530C-60CC-1199AC16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E9CC47-1879-B726-A107-4B185B31E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C4	nyelv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0DED148-E745-81FB-88B8-C904B0723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Flexibilis szintaktika</a:t>
            </a:r>
          </a:p>
          <a:p>
            <a:pPr lvl="1"/>
            <a:r>
              <a:rPr lang="hu-HU" noProof="0" dirty="0" err="1"/>
              <a:t>LISP+Haskell+Tcl</a:t>
            </a:r>
            <a:r>
              <a:rPr lang="hu-HU" noProof="0" dirty="0"/>
              <a:t>+(kicsi)</a:t>
            </a:r>
            <a:r>
              <a:rPr lang="hu-HU" noProof="0" dirty="0" err="1"/>
              <a:t>Ruby</a:t>
            </a:r>
            <a:endParaRPr lang="hu-HU" noProof="0" dirty="0"/>
          </a:p>
          <a:p>
            <a:r>
              <a:rPr lang="hu-HU" noProof="0" dirty="0"/>
              <a:t>Minden függvény</a:t>
            </a:r>
          </a:p>
          <a:p>
            <a:pPr lvl="1"/>
            <a:r>
              <a:rPr lang="hu-HU" noProof="0" dirty="0"/>
              <a:t>Nincsenek* beépített nyelvi elemek</a:t>
            </a:r>
          </a:p>
          <a:p>
            <a:r>
              <a:rPr lang="hu-HU" noProof="0" dirty="0"/>
              <a:t>Ez nem feltűnő</a:t>
            </a:r>
          </a:p>
          <a:p>
            <a:pPr lvl="1"/>
            <a:r>
              <a:rPr lang="hu-HU" noProof="0" dirty="0"/>
              <a:t>“</a:t>
            </a:r>
            <a:r>
              <a:rPr lang="hu-HU" noProof="0" dirty="0" err="1"/>
              <a:t>if</a:t>
            </a:r>
            <a:r>
              <a:rPr lang="hu-HU" noProof="0" dirty="0"/>
              <a:t>” megszokottan viselkedik, hiába függvény</a:t>
            </a:r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26FD28F5-0D0A-C768-4AC2-9154409FBBD4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BF9E3617-FAD9-3615-D6DA-A94D314FEBF5}"/>
              </a:ext>
            </a:extLst>
          </p:cNvPr>
          <p:cNvSpPr txBox="1"/>
          <p:nvPr/>
        </p:nvSpPr>
        <p:spPr>
          <a:xfrm>
            <a:off x="3572759" y="4644951"/>
            <a:ext cx="1998483" cy="1754326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IBM Plex Mono" panose="020B0509050203000203" pitchFamily="49" charset="0"/>
              </a:defRPr>
            </a:lvl1pPr>
          </a:lstStyle>
          <a:p>
            <a:pPr algn="l">
              <a:tabLst>
                <a:tab pos="358775" algn="l"/>
              </a:tabLst>
            </a:pPr>
            <a:r>
              <a:rPr lang="hu-HU" noProof="0" dirty="0" err="1"/>
              <a:t>if</a:t>
            </a:r>
            <a:r>
              <a:rPr lang="hu-HU" noProof="0" dirty="0"/>
              <a:t> a &gt; 2 {</a:t>
            </a:r>
            <a:br>
              <a:rPr lang="hu-HU" noProof="0" dirty="0"/>
            </a:br>
            <a:r>
              <a:rPr lang="hu-HU" noProof="0" dirty="0"/>
              <a:t>	print “a”</a:t>
            </a:r>
            <a:br>
              <a:rPr lang="hu-HU" noProof="0" dirty="0"/>
            </a:br>
            <a:r>
              <a:rPr lang="hu-HU" noProof="0" dirty="0"/>
              <a:t>}</a:t>
            </a:r>
            <a:br>
              <a:rPr lang="hu-HU" noProof="0" dirty="0"/>
            </a:br>
            <a:r>
              <a:rPr lang="hu-HU" noProof="0" dirty="0" err="1"/>
              <a:t>else</a:t>
            </a:r>
            <a:r>
              <a:rPr lang="hu-HU" noProof="0" dirty="0"/>
              <a:t> {</a:t>
            </a:r>
            <a:br>
              <a:rPr lang="hu-HU" noProof="0" dirty="0"/>
            </a:br>
            <a:r>
              <a:rPr lang="hu-HU" noProof="0" dirty="0"/>
              <a:t>	print “b”</a:t>
            </a:r>
            <a:br>
              <a:rPr lang="hu-HU" noProof="0" dirty="0"/>
            </a:br>
            <a:r>
              <a:rPr lang="hu-HU" noProof="0" dirty="0"/>
              <a:t>}</a:t>
            </a:r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4EECA586-1775-6674-EB48-836C2AB0C4A8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13" name="Oval 41">
              <a:extLst>
                <a:ext uri="{FF2B5EF4-FFF2-40B4-BE49-F238E27FC236}">
                  <a16:creationId xmlns:a16="http://schemas.microsoft.com/office/drawing/2014/main" id="{3C15625C-1765-02D5-1EFA-579995680CAD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4" name="Oval 41">
              <a:extLst>
                <a:ext uri="{FF2B5EF4-FFF2-40B4-BE49-F238E27FC236}">
                  <a16:creationId xmlns:a16="http://schemas.microsoft.com/office/drawing/2014/main" id="{842DA734-8F10-6B11-1D35-117B182E9C70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5" name="Oval 41">
              <a:extLst>
                <a:ext uri="{FF2B5EF4-FFF2-40B4-BE49-F238E27FC236}">
                  <a16:creationId xmlns:a16="http://schemas.microsoft.com/office/drawing/2014/main" id="{A400262F-9518-B57C-7EC3-32136E9412BE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256E5-9DFB-E670-18B0-170CFD2DC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A8F2C-4D0E-4289-A6A8-059AD948180B}" type="datetime1">
              <a:rPr lang="hu-HU" smtClean="0"/>
              <a:t>2025-05-22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BC9D8-69D1-BBD9-96CC-1E47C9B6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BD8D4A-8FE6-1AC1-D71D-8316AE8F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521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A0D3-4B60-DEA5-FDCD-4D1D2186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26D889-834E-066A-E8F6-ACD9E65C5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C4	nyelv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8AFB2D7-CC0D-C0EF-7A2F-85B347E14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Flexibilis szintaktika</a:t>
            </a:r>
          </a:p>
          <a:p>
            <a:pPr lvl="1"/>
            <a:r>
              <a:rPr lang="hu-HU" noProof="0" dirty="0" err="1"/>
              <a:t>LISP+Haskell+Tcl</a:t>
            </a:r>
            <a:r>
              <a:rPr lang="hu-HU" noProof="0" dirty="0"/>
              <a:t>+(kicsi)</a:t>
            </a:r>
            <a:r>
              <a:rPr lang="hu-HU" noProof="0" dirty="0" err="1"/>
              <a:t>Ruby</a:t>
            </a:r>
            <a:endParaRPr lang="hu-HU" noProof="0" dirty="0"/>
          </a:p>
          <a:p>
            <a:r>
              <a:rPr lang="hu-HU" noProof="0" dirty="0"/>
              <a:t>Minden függvény</a:t>
            </a:r>
          </a:p>
          <a:p>
            <a:pPr lvl="1"/>
            <a:r>
              <a:rPr lang="hu-HU" noProof="0" dirty="0"/>
              <a:t>Nincsenek* beépített nyelvi elemek</a:t>
            </a:r>
          </a:p>
          <a:p>
            <a:r>
              <a:rPr lang="hu-HU" noProof="0" dirty="0"/>
              <a:t>Ez nem feltűnő</a:t>
            </a:r>
          </a:p>
          <a:p>
            <a:pPr lvl="1"/>
            <a:r>
              <a:rPr lang="hu-HU" noProof="0" dirty="0"/>
              <a:t>“</a:t>
            </a:r>
            <a:r>
              <a:rPr lang="hu-HU" noProof="0" dirty="0" err="1"/>
              <a:t>if</a:t>
            </a:r>
            <a:r>
              <a:rPr lang="hu-HU" noProof="0" dirty="0"/>
              <a:t>” megszokottan viselkedik, hiába függvény</a:t>
            </a:r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4C28EA03-9B9F-142B-D82B-F296751C4BCC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7DE4AE45-E989-0D22-408D-5BC97CBBACF1}"/>
              </a:ext>
            </a:extLst>
          </p:cNvPr>
          <p:cNvSpPr txBox="1"/>
          <p:nvPr/>
        </p:nvSpPr>
        <p:spPr>
          <a:xfrm>
            <a:off x="3572759" y="4644951"/>
            <a:ext cx="1998483" cy="1754326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IBM Plex Mono" panose="020B0509050203000203" pitchFamily="49" charset="0"/>
              </a:defRPr>
            </a:lvl1pPr>
          </a:lstStyle>
          <a:p>
            <a:pPr algn="l">
              <a:tabLst>
                <a:tab pos="358775" algn="l"/>
              </a:tabLst>
            </a:pPr>
            <a:r>
              <a:rPr lang="hu-HU" noProof="0" dirty="0" err="1">
                <a:solidFill>
                  <a:schemeClr val="bg1">
                    <a:lumMod val="50000"/>
                  </a:schemeClr>
                </a:solidFill>
              </a:rPr>
              <a:t>if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a &gt; 2 {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print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“a”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}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 err="1">
                <a:solidFill>
                  <a:schemeClr val="bg1">
                    <a:lumMod val="50000"/>
                  </a:schemeClr>
                </a:solidFill>
              </a:rPr>
              <a:t>else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{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print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“b”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1851265-07AA-BA98-6DD3-A2D5EB93BF46}"/>
              </a:ext>
            </a:extLst>
          </p:cNvPr>
          <p:cNvSpPr txBox="1"/>
          <p:nvPr/>
        </p:nvSpPr>
        <p:spPr>
          <a:xfrm>
            <a:off x="1621409" y="5222449"/>
            <a:ext cx="1187779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/>
              <a:t>print/1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C01133EA-31D5-E8F4-4355-DA7F4D4050C9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10" name="Oval 41">
              <a:extLst>
                <a:ext uri="{FF2B5EF4-FFF2-40B4-BE49-F238E27FC236}">
                  <a16:creationId xmlns:a16="http://schemas.microsoft.com/office/drawing/2014/main" id="{CEF94AD2-0EC9-BBAC-4166-A81FE6920ADB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1" name="Oval 41">
              <a:extLst>
                <a:ext uri="{FF2B5EF4-FFF2-40B4-BE49-F238E27FC236}">
                  <a16:creationId xmlns:a16="http://schemas.microsoft.com/office/drawing/2014/main" id="{F87B677F-F701-B1C2-1361-1855FAF9940A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2" name="Oval 41">
              <a:extLst>
                <a:ext uri="{FF2B5EF4-FFF2-40B4-BE49-F238E27FC236}">
                  <a16:creationId xmlns:a16="http://schemas.microsoft.com/office/drawing/2014/main" id="{EECDD036-BA5E-BD19-7B9B-1402D6E7C48C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674BE-1BB0-2468-7785-8EAEA7E65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0F34-15D8-4D33-B636-F6A7F0AE7E97}" type="datetime1">
              <a:rPr lang="hu-HU" smtClean="0"/>
              <a:t>2025-05-22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79C16-443A-3D8A-6486-78867447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4DEA634-4E30-6657-2272-54AFD017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111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FC80-510E-4B77-338E-8C00F79E0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470109-76D3-E674-019D-66C7B5EB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C4	nyelv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8BD43F7-EBA1-A60B-C968-49CE4FC01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Flexibilis szintaktika</a:t>
            </a:r>
          </a:p>
          <a:p>
            <a:pPr lvl="1"/>
            <a:r>
              <a:rPr lang="hu-HU" noProof="0" dirty="0" err="1"/>
              <a:t>LISP+Haskell+Tcl</a:t>
            </a:r>
            <a:r>
              <a:rPr lang="hu-HU" noProof="0" dirty="0"/>
              <a:t>+(kicsi)</a:t>
            </a:r>
            <a:r>
              <a:rPr lang="hu-HU" noProof="0" dirty="0" err="1"/>
              <a:t>Ruby</a:t>
            </a:r>
            <a:endParaRPr lang="hu-HU" noProof="0" dirty="0"/>
          </a:p>
          <a:p>
            <a:r>
              <a:rPr lang="hu-HU" noProof="0" dirty="0"/>
              <a:t>Minden függvény</a:t>
            </a:r>
          </a:p>
          <a:p>
            <a:pPr lvl="1"/>
            <a:r>
              <a:rPr lang="hu-HU" noProof="0" dirty="0"/>
              <a:t>Nincsenek* beépített nyelvi elemek</a:t>
            </a:r>
          </a:p>
          <a:p>
            <a:r>
              <a:rPr lang="hu-HU" noProof="0" dirty="0"/>
              <a:t>Ez nem feltűnő</a:t>
            </a:r>
          </a:p>
          <a:p>
            <a:pPr lvl="1"/>
            <a:r>
              <a:rPr lang="hu-HU" noProof="0" dirty="0"/>
              <a:t>“</a:t>
            </a:r>
            <a:r>
              <a:rPr lang="hu-HU" noProof="0" dirty="0" err="1"/>
              <a:t>if</a:t>
            </a:r>
            <a:r>
              <a:rPr lang="hu-HU" noProof="0" dirty="0"/>
              <a:t>” megszokottan viselkedik, hiába függvény</a:t>
            </a:r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A1D1F427-5BEE-31BF-5780-CA12922D1911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AFAD3A07-88BD-A76C-D76E-73B3BCC41544}"/>
              </a:ext>
            </a:extLst>
          </p:cNvPr>
          <p:cNvSpPr txBox="1"/>
          <p:nvPr/>
        </p:nvSpPr>
        <p:spPr>
          <a:xfrm>
            <a:off x="3572759" y="4644951"/>
            <a:ext cx="1998483" cy="1754326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IBM Plex Mono" panose="020B0509050203000203" pitchFamily="49" charset="0"/>
              </a:defRPr>
            </a:lvl1pPr>
          </a:lstStyle>
          <a:p>
            <a:pPr algn="l">
              <a:tabLst>
                <a:tab pos="358775" algn="l"/>
              </a:tabLst>
            </a:pP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if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a &gt; 2 {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print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“a”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}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 err="1">
                <a:solidFill>
                  <a:schemeClr val="bg1">
                    <a:lumMod val="50000"/>
                  </a:schemeClr>
                </a:solidFill>
              </a:rPr>
              <a:t>else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{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print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“b”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76C7F4F8-F272-C3A0-B6CE-9AFCEFE7A1DC}"/>
              </a:ext>
            </a:extLst>
          </p:cNvPr>
          <p:cNvSpPr txBox="1"/>
          <p:nvPr/>
        </p:nvSpPr>
        <p:spPr>
          <a:xfrm>
            <a:off x="2366127" y="4644951"/>
            <a:ext cx="735292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 err="1"/>
              <a:t>if</a:t>
            </a:r>
            <a:r>
              <a:rPr lang="hu-HU" noProof="0" dirty="0"/>
              <a:t>/3</a:t>
            </a:r>
          </a:p>
        </p:txBody>
      </p:sp>
      <p:grpSp>
        <p:nvGrpSpPr>
          <p:cNvPr id="10" name="Csoportba foglalás 9">
            <a:extLst>
              <a:ext uri="{FF2B5EF4-FFF2-40B4-BE49-F238E27FC236}">
                <a16:creationId xmlns:a16="http://schemas.microsoft.com/office/drawing/2014/main" id="{DF2D86D9-94BC-AB28-A177-78C9950F16DD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11" name="Oval 41">
              <a:extLst>
                <a:ext uri="{FF2B5EF4-FFF2-40B4-BE49-F238E27FC236}">
                  <a16:creationId xmlns:a16="http://schemas.microsoft.com/office/drawing/2014/main" id="{89151E28-3B5E-1325-B74D-2621CD11051E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2" name="Oval 41">
              <a:extLst>
                <a:ext uri="{FF2B5EF4-FFF2-40B4-BE49-F238E27FC236}">
                  <a16:creationId xmlns:a16="http://schemas.microsoft.com/office/drawing/2014/main" id="{01576245-6514-09F8-FDAE-186DFE9E92DD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3" name="Oval 41">
              <a:extLst>
                <a:ext uri="{FF2B5EF4-FFF2-40B4-BE49-F238E27FC236}">
                  <a16:creationId xmlns:a16="http://schemas.microsoft.com/office/drawing/2014/main" id="{4B197320-5DB4-62B3-BEA6-474AC0FA628D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5" name="Szövegdoboz 4">
            <a:extLst>
              <a:ext uri="{FF2B5EF4-FFF2-40B4-BE49-F238E27FC236}">
                <a16:creationId xmlns:a16="http://schemas.microsoft.com/office/drawing/2014/main" id="{0792CE01-54FD-6451-A885-28829FABC218}"/>
              </a:ext>
            </a:extLst>
          </p:cNvPr>
          <p:cNvSpPr txBox="1"/>
          <p:nvPr/>
        </p:nvSpPr>
        <p:spPr>
          <a:xfrm>
            <a:off x="1621409" y="5222449"/>
            <a:ext cx="1187779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/>
              <a:t>print/1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2086CC-8881-9F39-AE25-1437C1EC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8E73-5F85-4634-BF55-05E5D8876A10}" type="datetime1">
              <a:rPr lang="hu-HU" smtClean="0"/>
              <a:t>2025-05-22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DFF730-7F89-36A3-A0DE-85563411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AB9AD4D-6B07-2146-80E1-358471E1F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081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884EC-EACD-FF94-DEDF-CD3E42BF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D9185F-52D2-C87A-C86F-0D848A00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C4	nyelv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D8841D7-7B89-93F6-630A-9885A61CD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Flexibilis szintaktika</a:t>
            </a:r>
          </a:p>
          <a:p>
            <a:pPr lvl="1"/>
            <a:r>
              <a:rPr lang="hu-HU" noProof="0" dirty="0" err="1"/>
              <a:t>LISP+Haskell+Tcl</a:t>
            </a:r>
            <a:r>
              <a:rPr lang="hu-HU" noProof="0" dirty="0"/>
              <a:t>+(kicsi)</a:t>
            </a:r>
            <a:r>
              <a:rPr lang="hu-HU" noProof="0" dirty="0" err="1"/>
              <a:t>Ruby</a:t>
            </a:r>
            <a:endParaRPr lang="hu-HU" noProof="0" dirty="0"/>
          </a:p>
          <a:p>
            <a:r>
              <a:rPr lang="hu-HU" noProof="0" dirty="0"/>
              <a:t>Minden függvény</a:t>
            </a:r>
          </a:p>
          <a:p>
            <a:pPr lvl="1"/>
            <a:r>
              <a:rPr lang="hu-HU" noProof="0" dirty="0"/>
              <a:t>Nincsenek* beépített nyelvi elemek</a:t>
            </a:r>
          </a:p>
          <a:p>
            <a:r>
              <a:rPr lang="hu-HU" noProof="0" dirty="0"/>
              <a:t>Ez nem feltűnő</a:t>
            </a:r>
          </a:p>
          <a:p>
            <a:pPr lvl="1"/>
            <a:r>
              <a:rPr lang="hu-HU" noProof="0" dirty="0"/>
              <a:t>“</a:t>
            </a:r>
            <a:r>
              <a:rPr lang="hu-HU" noProof="0" dirty="0" err="1"/>
              <a:t>if</a:t>
            </a:r>
            <a:r>
              <a:rPr lang="hu-HU" noProof="0" dirty="0"/>
              <a:t>” megszokottan viselkedik, hiába függvény</a:t>
            </a:r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B61BFEB6-8E8E-FADB-A63E-A291768FF9FF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5703F160-5F5B-5105-5402-E255FC9EA67A}"/>
              </a:ext>
            </a:extLst>
          </p:cNvPr>
          <p:cNvSpPr txBox="1"/>
          <p:nvPr/>
        </p:nvSpPr>
        <p:spPr>
          <a:xfrm>
            <a:off x="3572759" y="4644951"/>
            <a:ext cx="1998483" cy="1754326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IBM Plex Mono" panose="020B0509050203000203" pitchFamily="49" charset="0"/>
              </a:defRPr>
            </a:lvl1pPr>
          </a:lstStyle>
          <a:p>
            <a:pPr algn="l">
              <a:tabLst>
                <a:tab pos="358775" algn="l"/>
              </a:tabLst>
            </a:pP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if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a &gt; 2 {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print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“a”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}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else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{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print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“b”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58CB7C39-7902-12A4-F82F-78206CE62119}"/>
              </a:ext>
            </a:extLst>
          </p:cNvPr>
          <p:cNvSpPr txBox="1"/>
          <p:nvPr/>
        </p:nvSpPr>
        <p:spPr>
          <a:xfrm>
            <a:off x="2218650" y="5699706"/>
            <a:ext cx="1024171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 err="1"/>
              <a:t>else</a:t>
            </a:r>
            <a:r>
              <a:rPr lang="hu-HU" noProof="0" dirty="0"/>
              <a:t>/1</a:t>
            </a:r>
          </a:p>
        </p:txBody>
      </p:sp>
      <p:grpSp>
        <p:nvGrpSpPr>
          <p:cNvPr id="11" name="Csoportba foglalás 10">
            <a:extLst>
              <a:ext uri="{FF2B5EF4-FFF2-40B4-BE49-F238E27FC236}">
                <a16:creationId xmlns:a16="http://schemas.microsoft.com/office/drawing/2014/main" id="{78E669E4-8F67-5189-D2BF-20BBCC9C9537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12" name="Oval 41">
              <a:extLst>
                <a:ext uri="{FF2B5EF4-FFF2-40B4-BE49-F238E27FC236}">
                  <a16:creationId xmlns:a16="http://schemas.microsoft.com/office/drawing/2014/main" id="{6CBB477B-81AE-C34E-8B8B-EAF85204E4B7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3" name="Oval 41">
              <a:extLst>
                <a:ext uri="{FF2B5EF4-FFF2-40B4-BE49-F238E27FC236}">
                  <a16:creationId xmlns:a16="http://schemas.microsoft.com/office/drawing/2014/main" id="{3F8A739D-AFB5-6F61-1A94-3D06FD1741EA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4" name="Oval 41">
              <a:extLst>
                <a:ext uri="{FF2B5EF4-FFF2-40B4-BE49-F238E27FC236}">
                  <a16:creationId xmlns:a16="http://schemas.microsoft.com/office/drawing/2014/main" id="{25EE6160-C7D5-A203-E620-AE4A20CE4D3C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5" name="Szövegdoboz 4">
            <a:extLst>
              <a:ext uri="{FF2B5EF4-FFF2-40B4-BE49-F238E27FC236}">
                <a16:creationId xmlns:a16="http://schemas.microsoft.com/office/drawing/2014/main" id="{5526E8C6-8F9D-9150-4EDD-2B20ABEE99DA}"/>
              </a:ext>
            </a:extLst>
          </p:cNvPr>
          <p:cNvSpPr txBox="1"/>
          <p:nvPr/>
        </p:nvSpPr>
        <p:spPr>
          <a:xfrm>
            <a:off x="1621409" y="5222449"/>
            <a:ext cx="1187779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/>
              <a:t>print/1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9A4C20D4-036F-37E6-993C-4FE3CA15FAAC}"/>
              </a:ext>
            </a:extLst>
          </p:cNvPr>
          <p:cNvSpPr txBox="1"/>
          <p:nvPr/>
        </p:nvSpPr>
        <p:spPr>
          <a:xfrm>
            <a:off x="2366127" y="4644951"/>
            <a:ext cx="735292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 err="1"/>
              <a:t>if</a:t>
            </a:r>
            <a:r>
              <a:rPr lang="hu-HU" noProof="0" dirty="0"/>
              <a:t>/3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6E1B2B5-D3C7-B433-455F-234F5402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7A794-9920-4EF8-BC72-F2E557CB9ACC}" type="datetime1">
              <a:rPr lang="hu-HU" smtClean="0"/>
              <a:t>2025-05-22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9DBDBB-2506-11F1-2CB8-8A6523AB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7E83E44-62D2-8275-4B97-A443CCD27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869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BC7E-5978-244E-23DF-5D259DF58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EE82F8-515A-2104-1E72-FC1694B5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C4	nyelv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D5F3B9-4DF6-D706-E532-42AF2E6D0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Flexibilis szintaktika</a:t>
            </a:r>
          </a:p>
          <a:p>
            <a:pPr lvl="1"/>
            <a:r>
              <a:rPr lang="hu-HU" noProof="0" dirty="0" err="1"/>
              <a:t>LISP+Haskell+Tcl</a:t>
            </a:r>
            <a:r>
              <a:rPr lang="hu-HU" noProof="0" dirty="0"/>
              <a:t>+(kicsi)</a:t>
            </a:r>
            <a:r>
              <a:rPr lang="hu-HU" noProof="0" dirty="0" err="1"/>
              <a:t>Ruby</a:t>
            </a:r>
            <a:endParaRPr lang="hu-HU" noProof="0" dirty="0"/>
          </a:p>
          <a:p>
            <a:r>
              <a:rPr lang="hu-HU" noProof="0" dirty="0"/>
              <a:t>Minden függvény</a:t>
            </a:r>
          </a:p>
          <a:p>
            <a:pPr lvl="1"/>
            <a:r>
              <a:rPr lang="hu-HU" noProof="0" dirty="0"/>
              <a:t>Nincsenek* beépített nyelvi elemek</a:t>
            </a:r>
          </a:p>
          <a:p>
            <a:r>
              <a:rPr lang="hu-HU" noProof="0" dirty="0"/>
              <a:t>Ez nem feltűnő</a:t>
            </a:r>
          </a:p>
          <a:p>
            <a:pPr lvl="1"/>
            <a:r>
              <a:rPr lang="hu-HU" noProof="0" dirty="0"/>
              <a:t>“</a:t>
            </a:r>
            <a:r>
              <a:rPr lang="hu-HU" noProof="0" dirty="0" err="1"/>
              <a:t>if</a:t>
            </a:r>
            <a:r>
              <a:rPr lang="hu-HU" noProof="0" dirty="0"/>
              <a:t>” megszokottan viselkedik, hiába függvény</a:t>
            </a:r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8815D258-75BB-7F2B-73B9-E357893F9D48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AD96E216-6712-41E8-C6A2-F9F02B03C51C}"/>
              </a:ext>
            </a:extLst>
          </p:cNvPr>
          <p:cNvSpPr txBox="1"/>
          <p:nvPr/>
        </p:nvSpPr>
        <p:spPr>
          <a:xfrm>
            <a:off x="3572759" y="4644951"/>
            <a:ext cx="1998483" cy="1754326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IBM Plex Mono" panose="020B0509050203000203" pitchFamily="49" charset="0"/>
              </a:defRPr>
            </a:lvl1pPr>
          </a:lstStyle>
          <a:p>
            <a:pPr algn="l">
              <a:tabLst>
                <a:tab pos="358775" algn="l"/>
              </a:tabLst>
            </a:pP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if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&gt;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2 {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print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“a”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}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else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{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print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“b”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AB568CC1-3ABA-2E18-63BA-D736F38DB2B4}"/>
              </a:ext>
            </a:extLst>
          </p:cNvPr>
          <p:cNvSpPr txBox="1"/>
          <p:nvPr/>
        </p:nvSpPr>
        <p:spPr>
          <a:xfrm>
            <a:off x="6086659" y="4964523"/>
            <a:ext cx="870321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/>
              <a:t>(&gt;)/2</a:t>
            </a:r>
          </a:p>
        </p:txBody>
      </p: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764D6647-CFB1-26D3-E93E-15C69D217FAC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14" name="Oval 41">
              <a:extLst>
                <a:ext uri="{FF2B5EF4-FFF2-40B4-BE49-F238E27FC236}">
                  <a16:creationId xmlns:a16="http://schemas.microsoft.com/office/drawing/2014/main" id="{9609FFA9-D75D-6922-614A-6C9F3DEB526B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5" name="Oval 41">
              <a:extLst>
                <a:ext uri="{FF2B5EF4-FFF2-40B4-BE49-F238E27FC236}">
                  <a16:creationId xmlns:a16="http://schemas.microsoft.com/office/drawing/2014/main" id="{16CE9EC7-497C-D731-C0CA-A2379D2D7FD8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6" name="Oval 41">
              <a:extLst>
                <a:ext uri="{FF2B5EF4-FFF2-40B4-BE49-F238E27FC236}">
                  <a16:creationId xmlns:a16="http://schemas.microsoft.com/office/drawing/2014/main" id="{C353CE16-3A9F-651C-1712-7FAF925D8F8D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5" name="Szövegdoboz 4">
            <a:extLst>
              <a:ext uri="{FF2B5EF4-FFF2-40B4-BE49-F238E27FC236}">
                <a16:creationId xmlns:a16="http://schemas.microsoft.com/office/drawing/2014/main" id="{645DB11A-84F5-6367-0752-11085E1DE6D2}"/>
              </a:ext>
            </a:extLst>
          </p:cNvPr>
          <p:cNvSpPr txBox="1"/>
          <p:nvPr/>
        </p:nvSpPr>
        <p:spPr>
          <a:xfrm>
            <a:off x="1621409" y="5222449"/>
            <a:ext cx="1187779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/>
              <a:t>print/1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996D691-A8E8-37D9-F88D-3C597E89070E}"/>
              </a:ext>
            </a:extLst>
          </p:cNvPr>
          <p:cNvSpPr txBox="1"/>
          <p:nvPr/>
        </p:nvSpPr>
        <p:spPr>
          <a:xfrm>
            <a:off x="2366127" y="4644951"/>
            <a:ext cx="735292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 err="1"/>
              <a:t>if</a:t>
            </a:r>
            <a:r>
              <a:rPr lang="hu-HU" noProof="0" dirty="0"/>
              <a:t>/3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AA519B93-EC9F-C312-186F-1B39A4913971}"/>
              </a:ext>
            </a:extLst>
          </p:cNvPr>
          <p:cNvSpPr txBox="1"/>
          <p:nvPr/>
        </p:nvSpPr>
        <p:spPr>
          <a:xfrm>
            <a:off x="2218650" y="5699706"/>
            <a:ext cx="1024171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 err="1"/>
              <a:t>else</a:t>
            </a:r>
            <a:r>
              <a:rPr lang="hu-HU" noProof="0" dirty="0"/>
              <a:t>/1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D92C39-3ACB-A4CD-6E1C-F15CC3EE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C402-8D98-4589-9138-5E16CBB74C13}" type="datetime1">
              <a:rPr lang="hu-HU" smtClean="0"/>
              <a:t>2025-05-22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D9DD-3FF9-682B-BE99-A746785E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8A67BD-370A-E0DE-CE20-269DF8A2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573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B82F0-1043-0534-18ED-088E4690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5EABA9-0DAE-4EF2-1B77-EA87BB2F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C4	nyelv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E42715-B806-47F1-55B2-2870B3528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Flexibilis szintaktika</a:t>
            </a:r>
          </a:p>
          <a:p>
            <a:pPr lvl="1"/>
            <a:r>
              <a:rPr lang="hu-HU" noProof="0" dirty="0" err="1"/>
              <a:t>LISP+Haskell+Tcl</a:t>
            </a:r>
            <a:r>
              <a:rPr lang="hu-HU" noProof="0" dirty="0"/>
              <a:t>+(kicsi)</a:t>
            </a:r>
            <a:r>
              <a:rPr lang="hu-HU" noProof="0" dirty="0" err="1"/>
              <a:t>Ruby</a:t>
            </a:r>
            <a:endParaRPr lang="hu-HU" noProof="0" dirty="0"/>
          </a:p>
          <a:p>
            <a:r>
              <a:rPr lang="hu-HU" noProof="0" dirty="0"/>
              <a:t>Minden függvény</a:t>
            </a:r>
          </a:p>
          <a:p>
            <a:pPr lvl="1"/>
            <a:r>
              <a:rPr lang="hu-HU" noProof="0" dirty="0"/>
              <a:t>Nincsenek* beépített nyelvi elemek</a:t>
            </a:r>
          </a:p>
          <a:p>
            <a:r>
              <a:rPr lang="hu-HU" noProof="0" dirty="0"/>
              <a:t>Ez nem feltűnő</a:t>
            </a:r>
          </a:p>
          <a:p>
            <a:pPr lvl="1"/>
            <a:r>
              <a:rPr lang="hu-HU" noProof="0" dirty="0"/>
              <a:t>“</a:t>
            </a:r>
            <a:r>
              <a:rPr lang="hu-HU" noProof="0" dirty="0" err="1"/>
              <a:t>if</a:t>
            </a:r>
            <a:r>
              <a:rPr lang="hu-HU" noProof="0" dirty="0"/>
              <a:t>” megszokottan viselkedik, hiába függvény</a:t>
            </a:r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13F3AFEA-4949-3265-4CFC-DABCE5E06C86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D26EEB90-16F7-FB21-84AD-74FCBC722C96}"/>
              </a:ext>
            </a:extLst>
          </p:cNvPr>
          <p:cNvSpPr txBox="1"/>
          <p:nvPr/>
        </p:nvSpPr>
        <p:spPr>
          <a:xfrm>
            <a:off x="3572759" y="4644951"/>
            <a:ext cx="1998483" cy="1754326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IBM Plex Mono" panose="020B0509050203000203" pitchFamily="49" charset="0"/>
              </a:defRPr>
            </a:lvl1pPr>
          </a:lstStyle>
          <a:p>
            <a:pPr algn="l">
              <a:tabLst>
                <a:tab pos="358775" algn="l"/>
              </a:tabLst>
            </a:pP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if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a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&gt;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2 {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print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“a”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}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else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{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print</a:t>
            </a: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 “b”</a:t>
            </a:r>
            <a:br>
              <a:rPr lang="hu-HU" noProof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noProof="0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5C6D6FD4-7B46-5974-C542-A120FD136828}"/>
              </a:ext>
            </a:extLst>
          </p:cNvPr>
          <p:cNvSpPr txBox="1"/>
          <p:nvPr/>
        </p:nvSpPr>
        <p:spPr>
          <a:xfrm>
            <a:off x="6354321" y="4557543"/>
            <a:ext cx="602659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/>
              <a:t>a/0</a:t>
            </a:r>
          </a:p>
        </p:txBody>
      </p:sp>
      <p:sp>
        <p:nvSpPr>
          <p:cNvPr id="13" name="Oval 42">
            <a:extLst>
              <a:ext uri="{FF2B5EF4-FFF2-40B4-BE49-F238E27FC236}">
                <a16:creationId xmlns:a16="http://schemas.microsoft.com/office/drawing/2014/main" id="{79672020-CC5A-CCC9-2F7E-298C6A10548C}"/>
              </a:ext>
            </a:extLst>
          </p:cNvPr>
          <p:cNvSpPr/>
          <p:nvPr/>
        </p:nvSpPr>
        <p:spPr>
          <a:xfrm>
            <a:off x="112232" y="7362077"/>
            <a:ext cx="230668" cy="230668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E3AEDD0E-B730-B8B0-59DC-CE62B317D89D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15" name="Oval 41">
              <a:extLst>
                <a:ext uri="{FF2B5EF4-FFF2-40B4-BE49-F238E27FC236}">
                  <a16:creationId xmlns:a16="http://schemas.microsoft.com/office/drawing/2014/main" id="{8D318205-1520-C93D-314F-01CE5BB51692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6" name="Oval 41">
              <a:extLst>
                <a:ext uri="{FF2B5EF4-FFF2-40B4-BE49-F238E27FC236}">
                  <a16:creationId xmlns:a16="http://schemas.microsoft.com/office/drawing/2014/main" id="{220388D8-234C-2581-8B2B-D01CDA7EEFB3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7" name="Oval 41">
              <a:extLst>
                <a:ext uri="{FF2B5EF4-FFF2-40B4-BE49-F238E27FC236}">
                  <a16:creationId xmlns:a16="http://schemas.microsoft.com/office/drawing/2014/main" id="{B3C7DE8C-14A8-C195-C821-82BCD8C1E755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5" name="Szövegdoboz 4">
            <a:extLst>
              <a:ext uri="{FF2B5EF4-FFF2-40B4-BE49-F238E27FC236}">
                <a16:creationId xmlns:a16="http://schemas.microsoft.com/office/drawing/2014/main" id="{E2196A9C-EBF2-027A-A666-FD67815F519F}"/>
              </a:ext>
            </a:extLst>
          </p:cNvPr>
          <p:cNvSpPr txBox="1"/>
          <p:nvPr/>
        </p:nvSpPr>
        <p:spPr>
          <a:xfrm>
            <a:off x="1621409" y="5222449"/>
            <a:ext cx="1187779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/>
              <a:t>print/1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7081909-85C1-E33A-8A1D-B4EA94EF0565}"/>
              </a:ext>
            </a:extLst>
          </p:cNvPr>
          <p:cNvSpPr txBox="1"/>
          <p:nvPr/>
        </p:nvSpPr>
        <p:spPr>
          <a:xfrm>
            <a:off x="2366127" y="4644951"/>
            <a:ext cx="735292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 err="1"/>
              <a:t>if</a:t>
            </a:r>
            <a:r>
              <a:rPr lang="hu-HU" noProof="0" dirty="0"/>
              <a:t>/3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8B1B2E26-B52D-E12F-C4D8-1BF9BA919309}"/>
              </a:ext>
            </a:extLst>
          </p:cNvPr>
          <p:cNvSpPr txBox="1"/>
          <p:nvPr/>
        </p:nvSpPr>
        <p:spPr>
          <a:xfrm>
            <a:off x="2218650" y="5699706"/>
            <a:ext cx="1024171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 err="1"/>
              <a:t>else</a:t>
            </a:r>
            <a:r>
              <a:rPr lang="hu-HU" noProof="0" dirty="0"/>
              <a:t>/1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D71C7749-CDF8-9EFA-8ABD-BABF077A8BAB}"/>
              </a:ext>
            </a:extLst>
          </p:cNvPr>
          <p:cNvSpPr txBox="1"/>
          <p:nvPr/>
        </p:nvSpPr>
        <p:spPr>
          <a:xfrm>
            <a:off x="6086659" y="4964523"/>
            <a:ext cx="870321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latin typeface="IBM Plex Mono" panose="020B0509050203000203" pitchFamily="49" charset="0"/>
              </a:defRPr>
            </a:lvl1pPr>
          </a:lstStyle>
          <a:p>
            <a:r>
              <a:rPr lang="hu-HU" noProof="0" dirty="0"/>
              <a:t>(&gt;)/2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02B9F27-9659-3C2D-8853-6B0B32D2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37C-320F-47C3-8E4A-50E98FB6B0B0}" type="datetime1">
              <a:rPr lang="hu-HU" smtClean="0"/>
              <a:t>2025-05-22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78389E-F2C9-59E4-71E5-4D0649FE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B62E5A-ADB7-9237-0308-FAE711C3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787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18C36-1460-81A9-59E2-AED726FF6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226789-6292-8B84-7CBF-427F3E1C2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C4	nyelv II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F945334-1B90-A966-2B4B-766692BAF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32588"/>
            <a:ext cx="7886700" cy="4351338"/>
          </a:xfrm>
        </p:spPr>
        <p:txBody>
          <a:bodyPr/>
          <a:lstStyle/>
          <a:p>
            <a:r>
              <a:rPr lang="hu-HU" noProof="0" dirty="0"/>
              <a:t>Egy kulcsszó: </a:t>
            </a: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  <a:latin typeface="IBM Plex Mono" panose="020B0509050203000203" pitchFamily="49" charset="0"/>
              </a:rPr>
              <a:t>let</a:t>
            </a:r>
            <a:endParaRPr lang="hu-HU" noProof="0" dirty="0">
              <a:solidFill>
                <a:schemeClr val="accent5">
                  <a:lumMod val="75000"/>
                </a:schemeClr>
              </a:solidFill>
              <a:latin typeface="IBM Plex Mono" panose="020B0509050203000203" pitchFamily="49" charset="0"/>
            </a:endParaRPr>
          </a:p>
          <a:p>
            <a:r>
              <a:rPr lang="hu-HU" noProof="0" dirty="0"/>
              <a:t>Függvények definiálására</a:t>
            </a:r>
          </a:p>
          <a:p>
            <a:pPr lvl="1"/>
            <a:r>
              <a:rPr lang="hu-HU" noProof="0" dirty="0"/>
              <a:t>Változó is függvény</a:t>
            </a:r>
          </a:p>
          <a:p>
            <a:pPr lvl="1"/>
            <a:r>
              <a:rPr lang="hu-HU" noProof="0" dirty="0"/>
              <a:t>Operátor is függvény</a:t>
            </a:r>
          </a:p>
          <a:p>
            <a:endParaRPr lang="hu-HU" noProof="0" dirty="0"/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C0997F53-6B36-7858-790B-911B84CF40E4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306B3507-1F6C-AC1C-0C6D-D0DB3A7DE819}"/>
              </a:ext>
            </a:extLst>
          </p:cNvPr>
          <p:cNvSpPr txBox="1"/>
          <p:nvPr/>
        </p:nvSpPr>
        <p:spPr>
          <a:xfrm>
            <a:off x="2111605" y="4074246"/>
            <a:ext cx="4920791" cy="2308324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latin typeface="IBM Plex Mono" panose="020B0509050203000203" pitchFamily="49" charset="0"/>
              </a:defRPr>
            </a:lvl1pPr>
          </a:lstStyle>
          <a:p>
            <a:pPr algn="l">
              <a:tabLst>
                <a:tab pos="358775" algn="l"/>
              </a:tabLst>
            </a:pP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let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hu-HU" noProof="0" dirty="0" err="1"/>
              <a:t>fun</a:t>
            </a:r>
            <a:r>
              <a:rPr lang="hu-HU" noProof="0" dirty="0"/>
              <a:t>/2 { |a b| … }</a:t>
            </a:r>
          </a:p>
          <a:p>
            <a:pPr algn="l">
              <a:tabLst>
                <a:tab pos="358775" algn="l"/>
              </a:tabLst>
            </a:pPr>
            <a:r>
              <a:rPr lang="hu-HU" noProof="0" dirty="0">
                <a:solidFill>
                  <a:schemeClr val="accent6">
                    <a:lumMod val="50000"/>
                  </a:schemeClr>
                </a:solidFill>
              </a:rPr>
              <a:t># </a:t>
            </a:r>
            <a:r>
              <a:rPr lang="hu-HU" noProof="0" dirty="0" err="1">
                <a:solidFill>
                  <a:schemeClr val="accent6">
                    <a:lumMod val="50000"/>
                  </a:schemeClr>
                </a:solidFill>
              </a:rPr>
              <a:t>fun</a:t>
            </a:r>
            <a:r>
              <a:rPr lang="hu-HU" noProof="0" dirty="0">
                <a:solidFill>
                  <a:schemeClr val="accent6">
                    <a:lumMod val="50000"/>
                  </a:schemeClr>
                </a:solidFill>
              </a:rPr>
              <a:t> 1 2</a:t>
            </a:r>
          </a:p>
          <a:p>
            <a:pPr algn="l">
              <a:tabLst>
                <a:tab pos="358775" algn="l"/>
              </a:tabLst>
            </a:pP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let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hu-HU" noProof="0" dirty="0"/>
              <a:t>(&gt;_&lt;)/2 </a:t>
            </a:r>
            <a:r>
              <a:rPr lang="hu-HU" noProof="0" dirty="0" err="1"/>
              <a:t>left</a:t>
            </a:r>
            <a:r>
              <a:rPr lang="hu-HU" noProof="0" dirty="0"/>
              <a:t> 2 { |a b| … }</a:t>
            </a:r>
          </a:p>
          <a:p>
            <a:pPr algn="l">
              <a:tabLst>
                <a:tab pos="358775" algn="l"/>
              </a:tabLst>
            </a:pPr>
            <a:r>
              <a:rPr lang="hu-HU" noProof="0" dirty="0">
                <a:solidFill>
                  <a:schemeClr val="accent6">
                    <a:lumMod val="50000"/>
                  </a:schemeClr>
                </a:solidFill>
              </a:rPr>
              <a:t># 1 &gt;_&lt; 2</a:t>
            </a:r>
          </a:p>
          <a:p>
            <a:pPr algn="l">
              <a:tabLst>
                <a:tab pos="358775" algn="l"/>
              </a:tabLst>
            </a:pP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let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hu-HU" noProof="0" dirty="0"/>
              <a:t>(^-^)/1 { |x| … }</a:t>
            </a:r>
          </a:p>
          <a:p>
            <a:pPr algn="l">
              <a:tabLst>
                <a:tab pos="358775" algn="l"/>
              </a:tabLst>
            </a:pPr>
            <a:r>
              <a:rPr lang="hu-HU" noProof="0" dirty="0">
                <a:solidFill>
                  <a:schemeClr val="accent6">
                    <a:lumMod val="50000"/>
                  </a:schemeClr>
                </a:solidFill>
              </a:rPr>
              <a:t># ^-^123</a:t>
            </a:r>
          </a:p>
          <a:p>
            <a:pPr algn="l">
              <a:tabLst>
                <a:tab pos="358775" algn="l"/>
              </a:tabLst>
            </a:pPr>
            <a:r>
              <a:rPr lang="hu-HU" noProof="0" dirty="0" err="1">
                <a:solidFill>
                  <a:schemeClr val="accent5">
                    <a:lumMod val="75000"/>
                  </a:schemeClr>
                </a:solidFill>
              </a:rPr>
              <a:t>let</a:t>
            </a:r>
            <a:r>
              <a:rPr lang="hu-HU" noProof="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hu-HU" noProof="0" dirty="0"/>
              <a:t>x 123</a:t>
            </a:r>
          </a:p>
          <a:p>
            <a:pPr algn="l">
              <a:tabLst>
                <a:tab pos="358775" algn="l"/>
              </a:tabLst>
            </a:pPr>
            <a:r>
              <a:rPr lang="hu-HU" noProof="0" dirty="0">
                <a:solidFill>
                  <a:schemeClr val="accent6">
                    <a:lumMod val="50000"/>
                  </a:schemeClr>
                </a:solidFill>
              </a:rPr>
              <a:t># x</a:t>
            </a:r>
          </a:p>
        </p:txBody>
      </p:sp>
      <p:sp>
        <p:nvSpPr>
          <p:cNvPr id="12" name="Oval 42">
            <a:extLst>
              <a:ext uri="{FF2B5EF4-FFF2-40B4-BE49-F238E27FC236}">
                <a16:creationId xmlns:a16="http://schemas.microsoft.com/office/drawing/2014/main" id="{9CF7EC31-AE63-C3BF-5F3B-B27350DF8779}"/>
              </a:ext>
            </a:extLst>
          </p:cNvPr>
          <p:cNvSpPr/>
          <p:nvPr/>
        </p:nvSpPr>
        <p:spPr>
          <a:xfrm>
            <a:off x="112232" y="912573"/>
            <a:ext cx="230668" cy="230668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8B048BC4-E718-54F7-4255-5A683A29CCFE}"/>
              </a:ext>
            </a:extLst>
          </p:cNvPr>
          <p:cNvGrpSpPr/>
          <p:nvPr/>
        </p:nvGrpSpPr>
        <p:grpSpPr>
          <a:xfrm>
            <a:off x="112232" y="7850698"/>
            <a:ext cx="230668" cy="230668"/>
            <a:chOff x="112232" y="912573"/>
            <a:chExt cx="230668" cy="230668"/>
          </a:xfrm>
        </p:grpSpPr>
        <p:sp>
          <p:nvSpPr>
            <p:cNvPr id="9" name="Oval 42">
              <a:extLst>
                <a:ext uri="{FF2B5EF4-FFF2-40B4-BE49-F238E27FC236}">
                  <a16:creationId xmlns:a16="http://schemas.microsoft.com/office/drawing/2014/main" id="{13E34127-921D-1620-16EA-3EEAE441243D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0" name="Oval 42">
              <a:extLst>
                <a:ext uri="{FF2B5EF4-FFF2-40B4-BE49-F238E27FC236}">
                  <a16:creationId xmlns:a16="http://schemas.microsoft.com/office/drawing/2014/main" id="{15B673D4-8C4E-6B0F-337B-F80A8FBF9B13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19FB0E27-7441-5FB4-5BAD-AE3671FC10C3}"/>
              </a:ext>
            </a:extLst>
          </p:cNvPr>
          <p:cNvGrpSpPr/>
          <p:nvPr/>
        </p:nvGrpSpPr>
        <p:grpSpPr>
          <a:xfrm>
            <a:off x="112232" y="-814627"/>
            <a:ext cx="230668" cy="230668"/>
            <a:chOff x="112232" y="912573"/>
            <a:chExt cx="230668" cy="230668"/>
          </a:xfrm>
        </p:grpSpPr>
        <p:sp>
          <p:nvSpPr>
            <p:cNvPr id="14" name="Oval 41">
              <a:extLst>
                <a:ext uri="{FF2B5EF4-FFF2-40B4-BE49-F238E27FC236}">
                  <a16:creationId xmlns:a16="http://schemas.microsoft.com/office/drawing/2014/main" id="{F34C6DD2-C178-D278-3B79-9C778C8B6AD6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5" name="Oval 41">
              <a:extLst>
                <a:ext uri="{FF2B5EF4-FFF2-40B4-BE49-F238E27FC236}">
                  <a16:creationId xmlns:a16="http://schemas.microsoft.com/office/drawing/2014/main" id="{29680E38-E688-09B0-ED01-99CB7C796995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6" name="Oval 41">
              <a:extLst>
                <a:ext uri="{FF2B5EF4-FFF2-40B4-BE49-F238E27FC236}">
                  <a16:creationId xmlns:a16="http://schemas.microsoft.com/office/drawing/2014/main" id="{C84C0209-28DF-7690-8FAA-2B82791CB71B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02E45-E121-3D45-EA6E-A6B06AC7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98D6-57C8-4835-9FE8-130E56077C20}" type="datetime1">
              <a:rPr lang="hu-HU" smtClean="0"/>
              <a:t>2025-05-22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F3F5A-6D0A-8175-EC9B-68B060B4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1447F2C-7591-E7AD-2A66-8CE6E22A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038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63D0D9-3D09-7113-A5C6-E40D0F42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/>
              <a:t>Fordítás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A4CE95-DAA3-5C29-62AF-6F760B2A1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LLVM backend</a:t>
            </a:r>
          </a:p>
          <a:p>
            <a:pPr lvl="1"/>
            <a:r>
              <a:rPr lang="hu-HU" noProof="0" dirty="0"/>
              <a:t>Sok architektúrát támogat (x86(-64), ARM(64), RISC-V, SPARC, z/</a:t>
            </a:r>
            <a:r>
              <a:rPr lang="hu-HU" noProof="0" dirty="0" err="1"/>
              <a:t>Architecture</a:t>
            </a:r>
            <a:r>
              <a:rPr lang="hu-HU" noProof="0" dirty="0"/>
              <a:t>, ...)</a:t>
            </a:r>
          </a:p>
          <a:p>
            <a:r>
              <a:rPr lang="hu-HU" noProof="0" dirty="0"/>
              <a:t>Optimalizálás</a:t>
            </a:r>
          </a:p>
          <a:p>
            <a:pPr lvl="1"/>
            <a:r>
              <a:rPr lang="hu-HU" noProof="0" dirty="0"/>
              <a:t>“Ingyen” kapjuk LLVM mellé</a:t>
            </a:r>
          </a:p>
          <a:p>
            <a:pPr lvl="1"/>
            <a:r>
              <a:rPr lang="hu-HU" noProof="0" dirty="0"/>
              <a:t>Várhatóan jobb, mint amit mi tudnánk írni</a:t>
            </a:r>
          </a:p>
          <a:p>
            <a:pPr lvl="1"/>
            <a:endParaRPr lang="hu-HU" noProof="0" dirty="0"/>
          </a:p>
          <a:p>
            <a:r>
              <a:rPr lang="hu-HU" noProof="0" dirty="0"/>
              <a:t>Egyelőre </a:t>
            </a:r>
            <a:r>
              <a:rPr lang="hu-HU" noProof="0" dirty="0" err="1"/>
              <a:t>compiler</a:t>
            </a:r>
            <a:endParaRPr lang="hu-HU" noProof="0" dirty="0"/>
          </a:p>
          <a:p>
            <a:pPr lvl="1"/>
            <a:r>
              <a:rPr lang="hu-HU" noProof="0" dirty="0"/>
              <a:t>JIT támogatás folyamatban</a:t>
            </a:r>
          </a:p>
          <a:p>
            <a:endParaRPr lang="hu-HU" noProof="0" dirty="0"/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BA3E689C-EDF6-C50B-44F6-8A27A8DE28B0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CB303872-8B9A-378D-E8C0-9DB26C96E592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5" name="Oval 42">
              <a:extLst>
                <a:ext uri="{FF2B5EF4-FFF2-40B4-BE49-F238E27FC236}">
                  <a16:creationId xmlns:a16="http://schemas.microsoft.com/office/drawing/2014/main" id="{777A6845-61B7-2C4E-EAD6-86ED84B11396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6" name="Oval 42">
              <a:extLst>
                <a:ext uri="{FF2B5EF4-FFF2-40B4-BE49-F238E27FC236}">
                  <a16:creationId xmlns:a16="http://schemas.microsoft.com/office/drawing/2014/main" id="{D57EC129-0B92-6FED-8B63-A325CEAD3C85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8" name="Oval 42">
            <a:extLst>
              <a:ext uri="{FF2B5EF4-FFF2-40B4-BE49-F238E27FC236}">
                <a16:creationId xmlns:a16="http://schemas.microsoft.com/office/drawing/2014/main" id="{F8667741-11ED-0D2F-BF35-23BEA878586F}"/>
              </a:ext>
            </a:extLst>
          </p:cNvPr>
          <p:cNvSpPr/>
          <p:nvPr/>
        </p:nvSpPr>
        <p:spPr>
          <a:xfrm>
            <a:off x="112232" y="-1029348"/>
            <a:ext cx="230668" cy="230668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15002AB1-B0D9-C4A6-F185-EADE3CA66CDA}"/>
              </a:ext>
            </a:extLst>
          </p:cNvPr>
          <p:cNvGrpSpPr/>
          <p:nvPr/>
        </p:nvGrpSpPr>
        <p:grpSpPr>
          <a:xfrm>
            <a:off x="112232" y="7465773"/>
            <a:ext cx="230668" cy="230668"/>
            <a:chOff x="112232" y="7465773"/>
            <a:chExt cx="230668" cy="230668"/>
          </a:xfrm>
        </p:grpSpPr>
        <p:sp>
          <p:nvSpPr>
            <p:cNvPr id="9" name="Oval 42">
              <a:extLst>
                <a:ext uri="{FF2B5EF4-FFF2-40B4-BE49-F238E27FC236}">
                  <a16:creationId xmlns:a16="http://schemas.microsoft.com/office/drawing/2014/main" id="{A3E0AD0D-823E-B558-266B-BB82C1F32F7D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0" name="Oval 42">
              <a:extLst>
                <a:ext uri="{FF2B5EF4-FFF2-40B4-BE49-F238E27FC236}">
                  <a16:creationId xmlns:a16="http://schemas.microsoft.com/office/drawing/2014/main" id="{739C9C76-F8FA-FD8F-AD3D-7B23ECCF623E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1" name="Oval 42">
              <a:extLst>
                <a:ext uri="{FF2B5EF4-FFF2-40B4-BE49-F238E27FC236}">
                  <a16:creationId xmlns:a16="http://schemas.microsoft.com/office/drawing/2014/main" id="{3C8ED2E6-8CC6-22C7-F3A3-EB71C687BA22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3" name="Oval 42">
              <a:extLst>
                <a:ext uri="{FF2B5EF4-FFF2-40B4-BE49-F238E27FC236}">
                  <a16:creationId xmlns:a16="http://schemas.microsoft.com/office/drawing/2014/main" id="{02DE34C7-5CE4-9F03-4684-C1F44A50167C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7ED0623-88BE-CC40-74A7-FBD1E427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A170B-EBEA-4796-8D16-77C9B61AFE4E}" type="datetime1">
              <a:rPr lang="hu-HU" smtClean="0"/>
              <a:t>2025-05-22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F9BD1E6-2E90-793B-F7C4-28600636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FD6EF51-6056-9B8F-CE79-5028C818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497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D47991-C5E8-A885-F99C-4CEB9A79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LLVM </a:t>
            </a:r>
            <a:r>
              <a:rPr lang="hu-HU" noProof="0" dirty="0" err="1"/>
              <a:t>Internal</a:t>
            </a:r>
            <a:r>
              <a:rPr lang="hu-HU" noProof="0" dirty="0"/>
              <a:t> </a:t>
            </a:r>
            <a:r>
              <a:rPr lang="hu-HU" noProof="0" dirty="0" err="1"/>
              <a:t>Representation</a:t>
            </a:r>
            <a:endParaRPr lang="hu-HU" noProof="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ADBA12-B7A6-A420-1B17-6C14AA404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noProof="0" dirty="0"/>
              <a:t>LLVM támogatáshoz</a:t>
            </a:r>
          </a:p>
          <a:p>
            <a:r>
              <a:rPr lang="hu-HU" noProof="0" dirty="0"/>
              <a:t>Alacsony szintű nyelv</a:t>
            </a:r>
          </a:p>
          <a:p>
            <a:pPr lvl="1"/>
            <a:r>
              <a:rPr lang="hu-HU" noProof="0" dirty="0"/>
              <a:t>Regiszterek</a:t>
            </a:r>
          </a:p>
          <a:p>
            <a:pPr lvl="1"/>
            <a:r>
              <a:rPr lang="hu-HU" noProof="0" dirty="0"/>
              <a:t>Manuális </a:t>
            </a:r>
            <a:r>
              <a:rPr lang="hu-HU" noProof="0" dirty="0" err="1"/>
              <a:t>stack</a:t>
            </a:r>
            <a:r>
              <a:rPr lang="hu-HU" noProof="0" dirty="0"/>
              <a:t> allokálás</a:t>
            </a:r>
          </a:p>
          <a:p>
            <a:pPr lvl="1"/>
            <a:r>
              <a:rPr lang="hu-HU" noProof="0" dirty="0"/>
              <a:t>SSA forma</a:t>
            </a:r>
          </a:p>
          <a:p>
            <a:pPr lvl="1"/>
            <a:endParaRPr lang="hu-HU" noProof="0" dirty="0"/>
          </a:p>
          <a:p>
            <a:r>
              <a:rPr lang="hu-HU" noProof="0" dirty="0"/>
              <a:t>“Platform független </a:t>
            </a:r>
            <a:br>
              <a:rPr lang="hu-HU" noProof="0" dirty="0"/>
            </a:br>
            <a:r>
              <a:rPr lang="hu-HU" noProof="0" dirty="0"/>
              <a:t>  assembly”</a:t>
            </a:r>
          </a:p>
          <a:p>
            <a:endParaRPr lang="hu-HU" noProof="0" dirty="0"/>
          </a:p>
          <a:p>
            <a:r>
              <a:rPr lang="hu-HU" noProof="0" dirty="0"/>
              <a:t>Mindent “csak” erre kell redukálni, és kész vagyunk</a:t>
            </a:r>
          </a:p>
        </p:txBody>
      </p:sp>
      <p:cxnSp>
        <p:nvCxnSpPr>
          <p:cNvPr id="4" name="Straight Connector 33">
            <a:extLst>
              <a:ext uri="{FF2B5EF4-FFF2-40B4-BE49-F238E27FC236}">
                <a16:creationId xmlns:a16="http://schemas.microsoft.com/office/drawing/2014/main" id="{333E3AB5-1B3E-4B45-4C39-698C8F70DEB0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Csoportba foglalás 4">
            <a:extLst>
              <a:ext uri="{FF2B5EF4-FFF2-40B4-BE49-F238E27FC236}">
                <a16:creationId xmlns:a16="http://schemas.microsoft.com/office/drawing/2014/main" id="{85F0EDE2-D969-A5B0-55B2-2F5735B59E0C}"/>
              </a:ext>
            </a:extLst>
          </p:cNvPr>
          <p:cNvGrpSpPr/>
          <p:nvPr/>
        </p:nvGrpSpPr>
        <p:grpSpPr>
          <a:xfrm>
            <a:off x="112232" y="-1029348"/>
            <a:ext cx="230668" cy="230668"/>
            <a:chOff x="112232" y="912573"/>
            <a:chExt cx="230668" cy="230668"/>
          </a:xfrm>
        </p:grpSpPr>
        <p:sp>
          <p:nvSpPr>
            <p:cNvPr id="6" name="Oval 42">
              <a:extLst>
                <a:ext uri="{FF2B5EF4-FFF2-40B4-BE49-F238E27FC236}">
                  <a16:creationId xmlns:a16="http://schemas.microsoft.com/office/drawing/2014/main" id="{CC00CEA9-DDBD-0A55-4C61-3207D78F3D0A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7" name="Oval 42">
              <a:extLst>
                <a:ext uri="{FF2B5EF4-FFF2-40B4-BE49-F238E27FC236}">
                  <a16:creationId xmlns:a16="http://schemas.microsoft.com/office/drawing/2014/main" id="{F6D6A5E6-9D10-F46E-A4AE-EA2A7101AF85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2810DFF8-D21A-F48B-9D34-67E9DB5680DE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7465773"/>
            <a:chExt cx="230668" cy="230668"/>
          </a:xfrm>
        </p:grpSpPr>
        <p:sp>
          <p:nvSpPr>
            <p:cNvPr id="20" name="Oval 42">
              <a:extLst>
                <a:ext uri="{FF2B5EF4-FFF2-40B4-BE49-F238E27FC236}">
                  <a16:creationId xmlns:a16="http://schemas.microsoft.com/office/drawing/2014/main" id="{69795D5B-D1D3-D5E2-8CB1-EE8BF4979206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21" name="Oval 42">
              <a:extLst>
                <a:ext uri="{FF2B5EF4-FFF2-40B4-BE49-F238E27FC236}">
                  <a16:creationId xmlns:a16="http://schemas.microsoft.com/office/drawing/2014/main" id="{3E29448B-8583-9BAE-E5F9-EB3B05813967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22" name="Oval 42">
              <a:extLst>
                <a:ext uri="{FF2B5EF4-FFF2-40B4-BE49-F238E27FC236}">
                  <a16:creationId xmlns:a16="http://schemas.microsoft.com/office/drawing/2014/main" id="{283B9CCA-0EE7-2711-9EE1-87B46306AF92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23" name="Oval 42">
              <a:extLst>
                <a:ext uri="{FF2B5EF4-FFF2-40B4-BE49-F238E27FC236}">
                  <a16:creationId xmlns:a16="http://schemas.microsoft.com/office/drawing/2014/main" id="{93B03C04-8FEE-12E5-90AD-963E39D89474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43F42FA2-F3D6-9E2E-F726-0E922C754E3C}"/>
              </a:ext>
            </a:extLst>
          </p:cNvPr>
          <p:cNvGrpSpPr/>
          <p:nvPr/>
        </p:nvGrpSpPr>
        <p:grpSpPr>
          <a:xfrm>
            <a:off x="112232" y="7516573"/>
            <a:ext cx="230668" cy="230668"/>
            <a:chOff x="112232" y="912573"/>
            <a:chExt cx="230668" cy="230668"/>
          </a:xfrm>
        </p:grpSpPr>
        <p:sp>
          <p:nvSpPr>
            <p:cNvPr id="27" name="Oval 41">
              <a:extLst>
                <a:ext uri="{FF2B5EF4-FFF2-40B4-BE49-F238E27FC236}">
                  <a16:creationId xmlns:a16="http://schemas.microsoft.com/office/drawing/2014/main" id="{9048F684-8937-6C06-C368-2115910961B9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28" name="Oval 41">
              <a:extLst>
                <a:ext uri="{FF2B5EF4-FFF2-40B4-BE49-F238E27FC236}">
                  <a16:creationId xmlns:a16="http://schemas.microsoft.com/office/drawing/2014/main" id="{F667917F-7828-95DE-8332-F33B613B0D58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29" name="Oval 41">
              <a:extLst>
                <a:ext uri="{FF2B5EF4-FFF2-40B4-BE49-F238E27FC236}">
                  <a16:creationId xmlns:a16="http://schemas.microsoft.com/office/drawing/2014/main" id="{1D2F42FF-F152-AA02-35EE-0C2EAE257A46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5288CD8-ACC6-829B-3F9D-CD5A1D287386}"/>
              </a:ext>
            </a:extLst>
          </p:cNvPr>
          <p:cNvSpPr txBox="1"/>
          <p:nvPr/>
        </p:nvSpPr>
        <p:spPr>
          <a:xfrm>
            <a:off x="4572000" y="1690689"/>
            <a:ext cx="4326902" cy="329320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solidFill>
                  <a:schemeClr val="accent5">
                    <a:lumMod val="75000"/>
                  </a:schemeClr>
                </a:solidFill>
                <a:latin typeface="IBM Plex Mono" panose="020B0509050203000203" pitchFamily="49" charset="0"/>
              </a:defRPr>
            </a:lvl1pPr>
          </a:lstStyle>
          <a:p>
            <a:r>
              <a:rPr lang="hu-HU" sz="1600" noProof="0" dirty="0" err="1"/>
              <a:t>define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accent6">
                    <a:lumMod val="50000"/>
                  </a:schemeClr>
                </a:solidFill>
              </a:rPr>
              <a:t>i64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@_C2if3(</a:t>
            </a:r>
            <a:r>
              <a:rPr lang="hu-HU" sz="1600" noProof="0" dirty="0">
                <a:solidFill>
                  <a:schemeClr val="accent6">
                    <a:lumMod val="50000"/>
                  </a:schemeClr>
                </a:solidFill>
              </a:rPr>
              <a:t>ptr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%cond,</a:t>
            </a:r>
            <a:r>
              <a:rPr lang="hu-HU" sz="1600" noProof="0" dirty="0"/>
              <a:t> </a:t>
            </a:r>
          </a:p>
          <a:p>
            <a:r>
              <a:rPr lang="hu-HU" sz="1600" noProof="0" dirty="0"/>
              <a:t>                   </a:t>
            </a:r>
            <a:r>
              <a:rPr lang="hu-HU" sz="1600" noProof="0" dirty="0" err="1">
                <a:solidFill>
                  <a:schemeClr val="accent6">
                    <a:lumMod val="50000"/>
                  </a:schemeClr>
                </a:solidFill>
              </a:rPr>
              <a:t>ptr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%</a:t>
            </a:r>
            <a:r>
              <a:rPr lang="hu-HU" sz="1600" noProof="0" dirty="0" err="1">
                <a:solidFill>
                  <a:schemeClr val="tx1"/>
                </a:solidFill>
              </a:rPr>
              <a:t>true</a:t>
            </a:r>
            <a:r>
              <a:rPr lang="hu-HU" sz="1600" noProof="0" dirty="0">
                <a:solidFill>
                  <a:schemeClr val="tx1"/>
                </a:solidFill>
              </a:rPr>
              <a:t>,</a:t>
            </a:r>
            <a:r>
              <a:rPr lang="hu-HU" sz="1600" noProof="0" dirty="0"/>
              <a:t> </a:t>
            </a:r>
          </a:p>
          <a:p>
            <a:r>
              <a:rPr lang="hu-HU" sz="1600" noProof="0" dirty="0"/>
              <a:t>                   </a:t>
            </a:r>
            <a:r>
              <a:rPr lang="hu-HU" sz="1600" noProof="0" dirty="0" err="1">
                <a:solidFill>
                  <a:schemeClr val="accent6">
                    <a:lumMod val="50000"/>
                  </a:schemeClr>
                </a:solidFill>
              </a:rPr>
              <a:t>ptr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%</a:t>
            </a:r>
            <a:r>
              <a:rPr lang="hu-HU" sz="1600" noProof="0" dirty="0" err="1">
                <a:solidFill>
                  <a:schemeClr val="tx1"/>
                </a:solidFill>
              </a:rPr>
              <a:t>false</a:t>
            </a:r>
            <a:r>
              <a:rPr lang="hu-HU" sz="1600" noProof="0" dirty="0">
                <a:solidFill>
                  <a:schemeClr val="tx1"/>
                </a:solidFill>
              </a:rPr>
              <a:t>) {</a:t>
            </a:r>
          </a:p>
          <a:p>
            <a:r>
              <a:rPr lang="hu-HU" sz="1600" noProof="0" dirty="0" err="1"/>
              <a:t>eval</a:t>
            </a:r>
            <a:r>
              <a:rPr lang="hu-HU" sz="1600" noProof="0" dirty="0"/>
              <a:t>:</a:t>
            </a:r>
          </a:p>
          <a:p>
            <a:r>
              <a:rPr lang="hu-HU" sz="1600" noProof="0" dirty="0"/>
              <a:t>	</a:t>
            </a:r>
            <a:r>
              <a:rPr lang="hu-HU" sz="1600" noProof="0" dirty="0">
                <a:solidFill>
                  <a:schemeClr val="tx1"/>
                </a:solidFill>
              </a:rPr>
              <a:t>%</a:t>
            </a:r>
            <a:r>
              <a:rPr lang="hu-HU" sz="1600" noProof="0" dirty="0" err="1">
                <a:solidFill>
                  <a:schemeClr val="tx1"/>
                </a:solidFill>
              </a:rPr>
              <a:t>cond.real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=</a:t>
            </a:r>
            <a:r>
              <a:rPr lang="hu-HU" sz="1600" noProof="0" dirty="0"/>
              <a:t> </a:t>
            </a:r>
          </a:p>
          <a:p>
            <a:pPr>
              <a:tabLst>
                <a:tab pos="358775" algn="l"/>
                <a:tab pos="715963" algn="l"/>
              </a:tabLst>
            </a:pPr>
            <a:r>
              <a:rPr lang="hu-HU" sz="1600" noProof="0" dirty="0"/>
              <a:t>		</a:t>
            </a:r>
            <a:r>
              <a:rPr lang="hu-HU" sz="1600" noProof="0" dirty="0" err="1"/>
              <a:t>call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accent6">
                    <a:lumMod val="50000"/>
                  </a:schemeClr>
                </a:solidFill>
              </a:rPr>
              <a:t>i64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@_c4__arg_loader(</a:t>
            </a:r>
          </a:p>
          <a:p>
            <a:pPr>
              <a:tabLst>
                <a:tab pos="358775" algn="l"/>
                <a:tab pos="715963" algn="l"/>
                <a:tab pos="990600" algn="l"/>
              </a:tabLst>
            </a:pPr>
            <a:r>
              <a:rPr lang="hu-HU" sz="1600" noProof="0" dirty="0"/>
              <a:t>			</a:t>
            </a:r>
            <a:r>
              <a:rPr lang="hu-HU" sz="1600" noProof="0" dirty="0" err="1"/>
              <a:t>ptr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%cond)</a:t>
            </a:r>
          </a:p>
          <a:p>
            <a:r>
              <a:rPr lang="hu-HU" sz="1600" noProof="0" dirty="0"/>
              <a:t>	</a:t>
            </a:r>
            <a:r>
              <a:rPr lang="hu-HU" sz="1600" noProof="0" dirty="0">
                <a:solidFill>
                  <a:schemeClr val="tx1"/>
                </a:solidFill>
              </a:rPr>
              <a:t>%</a:t>
            </a:r>
            <a:r>
              <a:rPr lang="hu-HU" sz="1600" noProof="0" dirty="0" err="1">
                <a:solidFill>
                  <a:schemeClr val="tx1"/>
                </a:solidFill>
              </a:rPr>
              <a:t>isfalse</a:t>
            </a:r>
            <a:r>
              <a:rPr lang="hu-HU" sz="1600" noProof="0" dirty="0"/>
              <a:t> = </a:t>
            </a:r>
            <a:r>
              <a:rPr lang="hu-HU" sz="1600" noProof="0" dirty="0" err="1"/>
              <a:t>icmp</a:t>
            </a:r>
            <a:r>
              <a:rPr lang="hu-HU" sz="1600" noProof="0" dirty="0"/>
              <a:t> </a:t>
            </a:r>
            <a:r>
              <a:rPr lang="hu-HU" sz="1600" noProof="0" dirty="0" err="1"/>
              <a:t>eq</a:t>
            </a:r>
            <a:r>
              <a:rPr lang="hu-HU" sz="1600" noProof="0" dirty="0"/>
              <a:t> </a:t>
            </a:r>
          </a:p>
          <a:p>
            <a:pPr defTabSz="715963"/>
            <a:r>
              <a:rPr lang="hu-HU" sz="1600" noProof="0" dirty="0"/>
              <a:t>		</a:t>
            </a:r>
            <a:r>
              <a:rPr lang="hu-HU" sz="1600" noProof="0" dirty="0">
                <a:solidFill>
                  <a:schemeClr val="accent6">
                    <a:lumMod val="50000"/>
                  </a:schemeClr>
                </a:solidFill>
              </a:rPr>
              <a:t>i64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%</a:t>
            </a:r>
            <a:r>
              <a:rPr lang="hu-HU" sz="1600" noProof="0" dirty="0" err="1">
                <a:solidFill>
                  <a:schemeClr val="tx1"/>
                </a:solidFill>
              </a:rPr>
              <a:t>cond.real</a:t>
            </a:r>
            <a:r>
              <a:rPr lang="hu-HU" sz="1600" noProof="0" dirty="0">
                <a:solidFill>
                  <a:schemeClr val="tx1"/>
                </a:solidFill>
              </a:rPr>
              <a:t>,</a:t>
            </a:r>
          </a:p>
          <a:p>
            <a:pPr defTabSz="715963"/>
            <a:r>
              <a:rPr lang="hu-HU" sz="1600" noProof="0" dirty="0"/>
              <a:t>		</a:t>
            </a:r>
            <a:r>
              <a:rPr lang="hu-HU" sz="1600" noProof="0" dirty="0">
                <a:solidFill>
                  <a:schemeClr val="accent2">
                    <a:lumMod val="50000"/>
                  </a:schemeClr>
                </a:solidFill>
              </a:rPr>
              <a:t>u0x7FF0000000000000</a:t>
            </a:r>
          </a:p>
          <a:p>
            <a:r>
              <a:rPr lang="hu-HU" sz="1600" noProof="0" dirty="0"/>
              <a:t>	</a:t>
            </a:r>
            <a:r>
              <a:rPr lang="hu-HU" sz="1600" noProof="0" dirty="0" err="1"/>
              <a:t>br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accent6">
                    <a:lumMod val="50000"/>
                  </a:schemeClr>
                </a:solidFill>
              </a:rPr>
              <a:t>i1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%</a:t>
            </a:r>
            <a:r>
              <a:rPr lang="hu-HU" sz="1600" noProof="0" dirty="0" err="1">
                <a:solidFill>
                  <a:schemeClr val="tx1"/>
                </a:solidFill>
              </a:rPr>
              <a:t>isfalse</a:t>
            </a:r>
            <a:r>
              <a:rPr lang="hu-HU" sz="1600" noProof="0" dirty="0">
                <a:solidFill>
                  <a:schemeClr val="tx1"/>
                </a:solidFill>
              </a:rPr>
              <a:t>,</a:t>
            </a:r>
            <a:r>
              <a:rPr lang="hu-HU" sz="1600" noProof="0" dirty="0"/>
              <a:t> </a:t>
            </a:r>
          </a:p>
          <a:p>
            <a:r>
              <a:rPr lang="hu-HU" sz="1600" noProof="0" dirty="0"/>
              <a:t>		</a:t>
            </a:r>
            <a:r>
              <a:rPr lang="hu-HU" sz="1600" noProof="0" dirty="0" err="1">
                <a:solidFill>
                  <a:schemeClr val="accent6">
                    <a:lumMod val="50000"/>
                  </a:schemeClr>
                </a:solidFill>
              </a:rPr>
              <a:t>label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%</a:t>
            </a:r>
            <a:r>
              <a:rPr lang="hu-HU" sz="1600" noProof="0" dirty="0" err="1">
                <a:solidFill>
                  <a:schemeClr val="tx1"/>
                </a:solidFill>
              </a:rPr>
              <a:t>branch_f</a:t>
            </a:r>
            <a:r>
              <a:rPr lang="hu-HU" sz="1600" noProof="0" dirty="0">
                <a:solidFill>
                  <a:schemeClr val="tx1"/>
                </a:solidFill>
              </a:rPr>
              <a:t>,</a:t>
            </a:r>
            <a:r>
              <a:rPr lang="hu-HU" sz="1600" noProof="0" dirty="0"/>
              <a:t> </a:t>
            </a:r>
          </a:p>
          <a:p>
            <a:r>
              <a:rPr lang="hu-HU" sz="1600" noProof="0" dirty="0"/>
              <a:t>		</a:t>
            </a:r>
            <a:r>
              <a:rPr lang="hu-HU" sz="1600" noProof="0" dirty="0" err="1">
                <a:solidFill>
                  <a:schemeClr val="accent6">
                    <a:lumMod val="50000"/>
                  </a:schemeClr>
                </a:solidFill>
              </a:rPr>
              <a:t>label</a:t>
            </a:r>
            <a:r>
              <a:rPr lang="hu-HU" sz="1600" noProof="0" dirty="0"/>
              <a:t> </a:t>
            </a:r>
            <a:r>
              <a:rPr lang="hu-HU" sz="1600" noProof="0" dirty="0">
                <a:solidFill>
                  <a:schemeClr val="tx1"/>
                </a:solidFill>
              </a:rPr>
              <a:t>%</a:t>
            </a:r>
            <a:r>
              <a:rPr lang="hu-HU" sz="1600" noProof="0" dirty="0" err="1">
                <a:solidFill>
                  <a:schemeClr val="tx1"/>
                </a:solidFill>
              </a:rPr>
              <a:t>branch_t</a:t>
            </a:r>
            <a:endParaRPr lang="hu-HU" sz="1600" noProof="0" dirty="0">
              <a:solidFill>
                <a:schemeClr val="tx1"/>
              </a:solidFill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A139FEE-0D68-B369-FB32-C42BD0C6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B49-2C5B-4D68-B6B0-6C93D16EE3DD}" type="datetime1">
              <a:rPr lang="hu-HU" smtClean="0"/>
              <a:t>2025-05-22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A8ED592-CD21-4111-7F49-27338FDF6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6909C04-07D1-13AC-6E6E-78B6C7671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585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33">
            <a:extLst>
              <a:ext uri="{FF2B5EF4-FFF2-40B4-BE49-F238E27FC236}">
                <a16:creationId xmlns:a16="http://schemas.microsoft.com/office/drawing/2014/main" id="{7F9984EA-E679-3C4A-7EA0-1D6C56736E26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ím 1">
            <a:extLst>
              <a:ext uri="{FF2B5EF4-FFF2-40B4-BE49-F238E27FC236}">
                <a16:creationId xmlns:a16="http://schemas.microsoft.com/office/drawing/2014/main" id="{0350CCB8-4DC6-4006-C447-E69EE9EA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LLVM IR: Lustaság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B2F167-0ACC-1BC6-7FCA-4B1A32B9A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C4 lusta (</a:t>
            </a:r>
            <a:r>
              <a:rPr lang="hu-HU" noProof="0" dirty="0" err="1"/>
              <a:t>lazy</a:t>
            </a:r>
            <a:r>
              <a:rPr lang="hu-HU" noProof="0" dirty="0"/>
              <a:t>)</a:t>
            </a:r>
          </a:p>
          <a:p>
            <a:r>
              <a:rPr lang="hu-HU" noProof="0" dirty="0"/>
              <a:t>LLVM IR szorgos (</a:t>
            </a:r>
            <a:r>
              <a:rPr lang="hu-HU" noProof="0" dirty="0" err="1"/>
              <a:t>eager</a:t>
            </a:r>
            <a:r>
              <a:rPr lang="hu-HU" noProof="0" dirty="0"/>
              <a:t>)</a:t>
            </a:r>
          </a:p>
          <a:p>
            <a:endParaRPr lang="hu-HU" noProof="0" dirty="0"/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E15FB7B8-F68A-171E-39C3-8BA43B3D7DB7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5" name="Oval 41">
              <a:extLst>
                <a:ext uri="{FF2B5EF4-FFF2-40B4-BE49-F238E27FC236}">
                  <a16:creationId xmlns:a16="http://schemas.microsoft.com/office/drawing/2014/main" id="{F69DBDFF-0428-CA6D-62C7-13B8A80BF3B6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6" name="Oval 41">
              <a:extLst>
                <a:ext uri="{FF2B5EF4-FFF2-40B4-BE49-F238E27FC236}">
                  <a16:creationId xmlns:a16="http://schemas.microsoft.com/office/drawing/2014/main" id="{C8800248-D196-DAF6-A25B-CF91A9B2C121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7" name="Oval 41">
              <a:extLst>
                <a:ext uri="{FF2B5EF4-FFF2-40B4-BE49-F238E27FC236}">
                  <a16:creationId xmlns:a16="http://schemas.microsoft.com/office/drawing/2014/main" id="{79D0AFBE-FF62-C471-8D14-A08372F3BCBA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A26B7FAC-567F-7D22-91B9-CDF5942A891B}"/>
              </a:ext>
            </a:extLst>
          </p:cNvPr>
          <p:cNvGrpSpPr/>
          <p:nvPr/>
        </p:nvGrpSpPr>
        <p:grpSpPr>
          <a:xfrm>
            <a:off x="112232" y="-1195627"/>
            <a:ext cx="230668" cy="230668"/>
            <a:chOff x="112232" y="7465773"/>
            <a:chExt cx="230668" cy="230668"/>
          </a:xfrm>
        </p:grpSpPr>
        <p:sp>
          <p:nvSpPr>
            <p:cNvPr id="10" name="Oval 42">
              <a:extLst>
                <a:ext uri="{FF2B5EF4-FFF2-40B4-BE49-F238E27FC236}">
                  <a16:creationId xmlns:a16="http://schemas.microsoft.com/office/drawing/2014/main" id="{D78BA02F-2BC2-F9CF-60B7-263AAFEB7BAB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1" name="Oval 42">
              <a:extLst>
                <a:ext uri="{FF2B5EF4-FFF2-40B4-BE49-F238E27FC236}">
                  <a16:creationId xmlns:a16="http://schemas.microsoft.com/office/drawing/2014/main" id="{7AB36027-1E14-85F6-D0A0-BDD8E875DFF9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2" name="Oval 42">
              <a:extLst>
                <a:ext uri="{FF2B5EF4-FFF2-40B4-BE49-F238E27FC236}">
                  <a16:creationId xmlns:a16="http://schemas.microsoft.com/office/drawing/2014/main" id="{54FD721D-A208-44BC-98E7-10562CF24E2D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3" name="Oval 42">
              <a:extLst>
                <a:ext uri="{FF2B5EF4-FFF2-40B4-BE49-F238E27FC236}">
                  <a16:creationId xmlns:a16="http://schemas.microsoft.com/office/drawing/2014/main" id="{DE106E06-48F2-5780-27C6-401AC13FD1D5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73" name="Szabadkézi sokszög: alakzat 72">
            <a:extLst>
              <a:ext uri="{FF2B5EF4-FFF2-40B4-BE49-F238E27FC236}">
                <a16:creationId xmlns:a16="http://schemas.microsoft.com/office/drawing/2014/main" id="{34A62377-C355-49FA-2976-8D4718358FA2}"/>
              </a:ext>
            </a:extLst>
          </p:cNvPr>
          <p:cNvSpPr/>
          <p:nvPr/>
        </p:nvSpPr>
        <p:spPr>
          <a:xfrm>
            <a:off x="815125" y="4015421"/>
            <a:ext cx="1314454" cy="876299"/>
          </a:xfrm>
          <a:custGeom>
            <a:avLst/>
            <a:gdLst>
              <a:gd name="connsiteX0" fmla="*/ 0 w 1314454"/>
              <a:gd name="connsiteY0" fmla="*/ 876300 h 876299"/>
              <a:gd name="connsiteX1" fmla="*/ 1314455 w 1314454"/>
              <a:gd name="connsiteY1" fmla="*/ 876300 h 876299"/>
              <a:gd name="connsiteX2" fmla="*/ 1314455 w 1314454"/>
              <a:gd name="connsiteY2" fmla="*/ 0 h 876299"/>
              <a:gd name="connsiteX3" fmla="*/ 0 w 1314454"/>
              <a:gd name="connsiteY3" fmla="*/ 0 h 87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54" h="876299">
                <a:moveTo>
                  <a:pt x="0" y="876300"/>
                </a:moveTo>
                <a:lnTo>
                  <a:pt x="1314455" y="876300"/>
                </a:lnTo>
                <a:lnTo>
                  <a:pt x="1314455" y="0"/>
                </a:lnTo>
                <a:lnTo>
                  <a:pt x="0" y="0"/>
                </a:lnTo>
                <a:close/>
              </a:path>
            </a:pathLst>
          </a:custGeom>
          <a:noFill/>
          <a:ln w="2625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74" name="Szabadkézi sokszög: alakzat 73">
            <a:extLst>
              <a:ext uri="{FF2B5EF4-FFF2-40B4-BE49-F238E27FC236}">
                <a16:creationId xmlns:a16="http://schemas.microsoft.com/office/drawing/2014/main" id="{165F5885-4465-2E28-FBC2-D81D8D77FAB9}"/>
              </a:ext>
            </a:extLst>
          </p:cNvPr>
          <p:cNvSpPr/>
          <p:nvPr/>
        </p:nvSpPr>
        <p:spPr>
          <a:xfrm>
            <a:off x="2129580" y="4015421"/>
            <a:ext cx="1314449" cy="876299"/>
          </a:xfrm>
          <a:custGeom>
            <a:avLst/>
            <a:gdLst>
              <a:gd name="connsiteX0" fmla="*/ 0 w 1314449"/>
              <a:gd name="connsiteY0" fmla="*/ 876300 h 876299"/>
              <a:gd name="connsiteX1" fmla="*/ 1314450 w 1314449"/>
              <a:gd name="connsiteY1" fmla="*/ 876300 h 876299"/>
              <a:gd name="connsiteX2" fmla="*/ 1314450 w 1314449"/>
              <a:gd name="connsiteY2" fmla="*/ 0 h 876299"/>
              <a:gd name="connsiteX3" fmla="*/ 0 w 1314449"/>
              <a:gd name="connsiteY3" fmla="*/ 0 h 87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49" h="876299">
                <a:moveTo>
                  <a:pt x="0" y="876300"/>
                </a:moveTo>
                <a:lnTo>
                  <a:pt x="1314450" y="876300"/>
                </a:lnTo>
                <a:lnTo>
                  <a:pt x="1314450" y="0"/>
                </a:lnTo>
                <a:lnTo>
                  <a:pt x="0" y="0"/>
                </a:lnTo>
                <a:close/>
              </a:path>
            </a:pathLst>
          </a:custGeom>
          <a:noFill/>
          <a:ln w="2625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75" name="Szövegdoboz 74">
            <a:extLst>
              <a:ext uri="{FF2B5EF4-FFF2-40B4-BE49-F238E27FC236}">
                <a16:creationId xmlns:a16="http://schemas.microsoft.com/office/drawing/2014/main" id="{89FDAAA2-DF59-7083-9473-F2BF98566344}"/>
              </a:ext>
            </a:extLst>
          </p:cNvPr>
          <p:cNvSpPr txBox="1"/>
          <p:nvPr/>
        </p:nvSpPr>
        <p:spPr>
          <a:xfrm>
            <a:off x="1471384" y="3215313"/>
            <a:ext cx="13163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1400" spc="0" baseline="0" noProof="0" dirty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Kiértékeletlen</a:t>
            </a:r>
          </a:p>
        </p:txBody>
      </p:sp>
      <p:sp>
        <p:nvSpPr>
          <p:cNvPr id="76" name="Szövegdoboz 75">
            <a:extLst>
              <a:ext uri="{FF2B5EF4-FFF2-40B4-BE49-F238E27FC236}">
                <a16:creationId xmlns:a16="http://schemas.microsoft.com/office/drawing/2014/main" id="{B8A3A795-9F2D-FE8F-4A36-41D6FE5EA22E}"/>
              </a:ext>
            </a:extLst>
          </p:cNvPr>
          <p:cNvSpPr txBox="1"/>
          <p:nvPr/>
        </p:nvSpPr>
        <p:spPr>
          <a:xfrm>
            <a:off x="1209293" y="3460677"/>
            <a:ext cx="18405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1400" spc="0" baseline="0" noProof="0" dirty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Függvény paraméter</a:t>
            </a:r>
          </a:p>
        </p:txBody>
      </p:sp>
      <p:grpSp>
        <p:nvGrpSpPr>
          <p:cNvPr id="125" name="Csoportba foglalás 124">
            <a:extLst>
              <a:ext uri="{FF2B5EF4-FFF2-40B4-BE49-F238E27FC236}">
                <a16:creationId xmlns:a16="http://schemas.microsoft.com/office/drawing/2014/main" id="{92A39E53-DA89-FBDE-6267-F50B937CA15E}"/>
              </a:ext>
            </a:extLst>
          </p:cNvPr>
          <p:cNvGrpSpPr/>
          <p:nvPr/>
        </p:nvGrpSpPr>
        <p:grpSpPr>
          <a:xfrm>
            <a:off x="815125" y="3732514"/>
            <a:ext cx="2628905" cy="282907"/>
            <a:chOff x="815125" y="3732514"/>
            <a:chExt cx="2628905" cy="282907"/>
          </a:xfrm>
        </p:grpSpPr>
        <p:sp>
          <p:nvSpPr>
            <p:cNvPr id="77" name="Szabadkézi sokszög: alakzat 76">
              <a:extLst>
                <a:ext uri="{FF2B5EF4-FFF2-40B4-BE49-F238E27FC236}">
                  <a16:creationId xmlns:a16="http://schemas.microsoft.com/office/drawing/2014/main" id="{D597BDEE-12CD-C8C2-8BEF-71354F7BF26E}"/>
                </a:ext>
              </a:extLst>
            </p:cNvPr>
            <p:cNvSpPr/>
            <p:nvPr/>
          </p:nvSpPr>
          <p:spPr>
            <a:xfrm>
              <a:off x="815125" y="3732514"/>
              <a:ext cx="1317448" cy="282907"/>
            </a:xfrm>
            <a:custGeom>
              <a:avLst/>
              <a:gdLst>
                <a:gd name="connsiteX0" fmla="*/ 0 w 1317448"/>
                <a:gd name="connsiteY0" fmla="*/ 282907 h 282907"/>
                <a:gd name="connsiteX1" fmla="*/ 0 w 1317448"/>
                <a:gd name="connsiteY1" fmla="*/ 265381 h 282907"/>
                <a:gd name="connsiteX2" fmla="*/ 61964 w 1317448"/>
                <a:gd name="connsiteY2" fmla="*/ 185891 h 282907"/>
                <a:gd name="connsiteX3" fmla="*/ 658724 w 1317448"/>
                <a:gd name="connsiteY3" fmla="*/ 123928 h 282907"/>
                <a:gd name="connsiteX4" fmla="*/ 1255487 w 1317448"/>
                <a:gd name="connsiteY4" fmla="*/ 61964 h 282907"/>
                <a:gd name="connsiteX5" fmla="*/ 1317449 w 1317448"/>
                <a:gd name="connsiteY5" fmla="*/ 0 h 28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448" h="282907">
                  <a:moveTo>
                    <a:pt x="0" y="282907"/>
                  </a:moveTo>
                  <a:lnTo>
                    <a:pt x="0" y="265381"/>
                  </a:lnTo>
                  <a:cubicBezTo>
                    <a:pt x="0" y="253697"/>
                    <a:pt x="20655" y="227200"/>
                    <a:pt x="61964" y="185891"/>
                  </a:cubicBezTo>
                  <a:cubicBezTo>
                    <a:pt x="103273" y="144582"/>
                    <a:pt x="302193" y="123928"/>
                    <a:pt x="658724" y="123928"/>
                  </a:cubicBezTo>
                  <a:cubicBezTo>
                    <a:pt x="1015258" y="123928"/>
                    <a:pt x="1214179" y="103273"/>
                    <a:pt x="1255487" y="61964"/>
                  </a:cubicBezTo>
                  <a:lnTo>
                    <a:pt x="1317449" y="0"/>
                  </a:lnTo>
                </a:path>
              </a:pathLst>
            </a:custGeom>
            <a:noFill/>
            <a:ln w="17592" cap="flat">
              <a:solidFill>
                <a:srgbClr val="80808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hu-HU" noProof="0" dirty="0"/>
            </a:p>
          </p:txBody>
        </p:sp>
        <p:sp>
          <p:nvSpPr>
            <p:cNvPr id="78" name="Szabadkézi sokszög: alakzat 77">
              <a:extLst>
                <a:ext uri="{FF2B5EF4-FFF2-40B4-BE49-F238E27FC236}">
                  <a16:creationId xmlns:a16="http://schemas.microsoft.com/office/drawing/2014/main" id="{91176019-1EF3-E05D-F674-96E0EE7B24E4}"/>
                </a:ext>
              </a:extLst>
            </p:cNvPr>
            <p:cNvSpPr/>
            <p:nvPr/>
          </p:nvSpPr>
          <p:spPr>
            <a:xfrm>
              <a:off x="2126574" y="3732514"/>
              <a:ext cx="1317456" cy="282907"/>
            </a:xfrm>
            <a:custGeom>
              <a:avLst/>
              <a:gdLst>
                <a:gd name="connsiteX0" fmla="*/ 1317456 w 1317456"/>
                <a:gd name="connsiteY0" fmla="*/ 282907 h 282907"/>
                <a:gd name="connsiteX1" fmla="*/ 1317456 w 1317456"/>
                <a:gd name="connsiteY1" fmla="*/ 265381 h 282907"/>
                <a:gd name="connsiteX2" fmla="*/ 1255482 w 1317456"/>
                <a:gd name="connsiteY2" fmla="*/ 185891 h 282907"/>
                <a:gd name="connsiteX3" fmla="*/ 658722 w 1317456"/>
                <a:gd name="connsiteY3" fmla="*/ 123928 h 282907"/>
                <a:gd name="connsiteX4" fmla="*/ 61962 w 1317456"/>
                <a:gd name="connsiteY4" fmla="*/ 61964 h 282907"/>
                <a:gd name="connsiteX5" fmla="*/ 0 w 1317456"/>
                <a:gd name="connsiteY5" fmla="*/ 0 h 28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456" h="282907">
                  <a:moveTo>
                    <a:pt x="1317456" y="282907"/>
                  </a:moveTo>
                  <a:lnTo>
                    <a:pt x="1317456" y="265381"/>
                  </a:lnTo>
                  <a:cubicBezTo>
                    <a:pt x="1317456" y="253697"/>
                    <a:pt x="1296802" y="227200"/>
                    <a:pt x="1255482" y="185891"/>
                  </a:cubicBezTo>
                  <a:cubicBezTo>
                    <a:pt x="1214174" y="144582"/>
                    <a:pt x="1015254" y="123928"/>
                    <a:pt x="658722" y="123928"/>
                  </a:cubicBezTo>
                  <a:cubicBezTo>
                    <a:pt x="302202" y="123928"/>
                    <a:pt x="103282" y="103273"/>
                    <a:pt x="61962" y="61964"/>
                  </a:cubicBezTo>
                  <a:lnTo>
                    <a:pt x="0" y="0"/>
                  </a:lnTo>
                </a:path>
              </a:pathLst>
            </a:custGeom>
            <a:noFill/>
            <a:ln w="17592" cap="flat">
              <a:solidFill>
                <a:srgbClr val="80808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hu-HU" noProof="0" dirty="0"/>
            </a:p>
          </p:txBody>
        </p:sp>
      </p:grpSp>
      <p:sp>
        <p:nvSpPr>
          <p:cNvPr id="79" name="Szabadkézi sokszög: alakzat 78">
            <a:extLst>
              <a:ext uri="{FF2B5EF4-FFF2-40B4-BE49-F238E27FC236}">
                <a16:creationId xmlns:a16="http://schemas.microsoft.com/office/drawing/2014/main" id="{E321A253-D7EF-3254-876D-71A780748BAE}"/>
              </a:ext>
            </a:extLst>
          </p:cNvPr>
          <p:cNvSpPr/>
          <p:nvPr/>
        </p:nvSpPr>
        <p:spPr>
          <a:xfrm>
            <a:off x="1419775" y="4523675"/>
            <a:ext cx="105155" cy="105155"/>
          </a:xfrm>
          <a:custGeom>
            <a:avLst/>
            <a:gdLst>
              <a:gd name="connsiteX0" fmla="*/ 105156 w 105155"/>
              <a:gd name="connsiteY0" fmla="*/ 52578 h 105155"/>
              <a:gd name="connsiteX1" fmla="*/ 52578 w 105155"/>
              <a:gd name="connsiteY1" fmla="*/ 105156 h 105155"/>
              <a:gd name="connsiteX2" fmla="*/ 0 w 105155"/>
              <a:gd name="connsiteY2" fmla="*/ 52578 h 105155"/>
              <a:gd name="connsiteX3" fmla="*/ 52578 w 105155"/>
              <a:gd name="connsiteY3" fmla="*/ 0 h 105155"/>
              <a:gd name="connsiteX4" fmla="*/ 105156 w 105155"/>
              <a:gd name="connsiteY4" fmla="*/ 52578 h 1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155" h="105155">
                <a:moveTo>
                  <a:pt x="105156" y="52578"/>
                </a:moveTo>
                <a:cubicBezTo>
                  <a:pt x="105156" y="81616"/>
                  <a:pt x="81616" y="105156"/>
                  <a:pt x="52578" y="105156"/>
                </a:cubicBezTo>
                <a:cubicBezTo>
                  <a:pt x="23540" y="105156"/>
                  <a:pt x="0" y="81616"/>
                  <a:pt x="0" y="52578"/>
                </a:cubicBezTo>
                <a:cubicBezTo>
                  <a:pt x="0" y="23540"/>
                  <a:pt x="23540" y="0"/>
                  <a:pt x="52578" y="0"/>
                </a:cubicBezTo>
                <a:cubicBezTo>
                  <a:pt x="81616" y="0"/>
                  <a:pt x="105156" y="23540"/>
                  <a:pt x="105156" y="52578"/>
                </a:cubicBezTo>
                <a:close/>
              </a:path>
            </a:pathLst>
          </a:custGeom>
          <a:solidFill>
            <a:srgbClr val="000000"/>
          </a:solidFill>
          <a:ln w="3938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80" name="Szabadkézi sokszög: alakzat 79">
            <a:extLst>
              <a:ext uri="{FF2B5EF4-FFF2-40B4-BE49-F238E27FC236}">
                <a16:creationId xmlns:a16="http://schemas.microsoft.com/office/drawing/2014/main" id="{50905E79-C1B8-FA36-03C4-6DCD9B41D366}"/>
              </a:ext>
            </a:extLst>
          </p:cNvPr>
          <p:cNvSpPr/>
          <p:nvPr/>
        </p:nvSpPr>
        <p:spPr>
          <a:xfrm>
            <a:off x="2734227" y="4523675"/>
            <a:ext cx="105155" cy="105155"/>
          </a:xfrm>
          <a:custGeom>
            <a:avLst/>
            <a:gdLst>
              <a:gd name="connsiteX0" fmla="*/ 105156 w 105155"/>
              <a:gd name="connsiteY0" fmla="*/ 52578 h 105155"/>
              <a:gd name="connsiteX1" fmla="*/ 52578 w 105155"/>
              <a:gd name="connsiteY1" fmla="*/ 105156 h 105155"/>
              <a:gd name="connsiteX2" fmla="*/ 0 w 105155"/>
              <a:gd name="connsiteY2" fmla="*/ 52578 h 105155"/>
              <a:gd name="connsiteX3" fmla="*/ 52578 w 105155"/>
              <a:gd name="connsiteY3" fmla="*/ 0 h 105155"/>
              <a:gd name="connsiteX4" fmla="*/ 105156 w 105155"/>
              <a:gd name="connsiteY4" fmla="*/ 52578 h 1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155" h="105155">
                <a:moveTo>
                  <a:pt x="105156" y="52578"/>
                </a:moveTo>
                <a:cubicBezTo>
                  <a:pt x="105156" y="81616"/>
                  <a:pt x="81616" y="105156"/>
                  <a:pt x="52578" y="105156"/>
                </a:cubicBezTo>
                <a:cubicBezTo>
                  <a:pt x="23540" y="105156"/>
                  <a:pt x="0" y="81616"/>
                  <a:pt x="0" y="52578"/>
                </a:cubicBezTo>
                <a:cubicBezTo>
                  <a:pt x="0" y="23540"/>
                  <a:pt x="23540" y="0"/>
                  <a:pt x="52578" y="0"/>
                </a:cubicBezTo>
                <a:cubicBezTo>
                  <a:pt x="81616" y="0"/>
                  <a:pt x="105156" y="23540"/>
                  <a:pt x="105156" y="52578"/>
                </a:cubicBezTo>
                <a:close/>
              </a:path>
            </a:pathLst>
          </a:custGeom>
          <a:solidFill>
            <a:srgbClr val="000000"/>
          </a:solidFill>
          <a:ln w="3938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5A2586CE-9C1C-A670-AC2A-355E7AC3BA9B}"/>
              </a:ext>
            </a:extLst>
          </p:cNvPr>
          <p:cNvSpPr txBox="1"/>
          <p:nvPr/>
        </p:nvSpPr>
        <p:spPr>
          <a:xfrm>
            <a:off x="1048198" y="4161717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1200" spc="0" baseline="0" noProof="0" dirty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Függvény</a:t>
            </a:r>
          </a:p>
        </p:txBody>
      </p:sp>
      <p:sp>
        <p:nvSpPr>
          <p:cNvPr id="82" name="Szövegdoboz 81">
            <a:extLst>
              <a:ext uri="{FF2B5EF4-FFF2-40B4-BE49-F238E27FC236}">
                <a16:creationId xmlns:a16="http://schemas.microsoft.com/office/drawing/2014/main" id="{9C135EFF-87D9-998E-0348-2B9F5DFC111A}"/>
              </a:ext>
            </a:extLst>
          </p:cNvPr>
          <p:cNvSpPr txBox="1"/>
          <p:nvPr/>
        </p:nvSpPr>
        <p:spPr>
          <a:xfrm>
            <a:off x="2340208" y="4161717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1200" spc="0" baseline="0" noProof="0" dirty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Kontextus</a:t>
            </a:r>
          </a:p>
        </p:txBody>
      </p:sp>
      <p:sp>
        <p:nvSpPr>
          <p:cNvPr id="83" name="Szabadkézi sokszög: alakzat 82">
            <a:extLst>
              <a:ext uri="{FF2B5EF4-FFF2-40B4-BE49-F238E27FC236}">
                <a16:creationId xmlns:a16="http://schemas.microsoft.com/office/drawing/2014/main" id="{3DCE6A75-7CAD-882A-EFA4-066EBC3970F4}"/>
              </a:ext>
            </a:extLst>
          </p:cNvPr>
          <p:cNvSpPr/>
          <p:nvPr/>
        </p:nvSpPr>
        <p:spPr>
          <a:xfrm>
            <a:off x="1419772" y="5312345"/>
            <a:ext cx="105155" cy="140207"/>
          </a:xfrm>
          <a:custGeom>
            <a:avLst/>
            <a:gdLst>
              <a:gd name="connsiteX0" fmla="*/ 52578 w 105155"/>
              <a:gd name="connsiteY0" fmla="*/ 140208 h 140207"/>
              <a:gd name="connsiteX1" fmla="*/ 0 w 105155"/>
              <a:gd name="connsiteY1" fmla="*/ 0 h 140207"/>
              <a:gd name="connsiteX2" fmla="*/ 105156 w 105155"/>
              <a:gd name="connsiteY2" fmla="*/ 0 h 140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155" h="140207">
                <a:moveTo>
                  <a:pt x="52578" y="140208"/>
                </a:moveTo>
                <a:lnTo>
                  <a:pt x="0" y="0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  <a:ln w="12156" cap="flat">
            <a:noFill/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84" name="Szabadkézi sokszög: alakzat 83">
            <a:extLst>
              <a:ext uri="{FF2B5EF4-FFF2-40B4-BE49-F238E27FC236}">
                <a16:creationId xmlns:a16="http://schemas.microsoft.com/office/drawing/2014/main" id="{AE98B2C2-10CB-6CDE-C932-1F23ACBBA169}"/>
              </a:ext>
            </a:extLst>
          </p:cNvPr>
          <p:cNvSpPr/>
          <p:nvPr/>
        </p:nvSpPr>
        <p:spPr>
          <a:xfrm>
            <a:off x="1472350" y="4576253"/>
            <a:ext cx="12170" cy="806195"/>
          </a:xfrm>
          <a:custGeom>
            <a:avLst/>
            <a:gdLst>
              <a:gd name="connsiteX0" fmla="*/ 0 w 12170"/>
              <a:gd name="connsiteY0" fmla="*/ 0 h 806195"/>
              <a:gd name="connsiteX1" fmla="*/ 0 w 12170"/>
              <a:gd name="connsiteY1" fmla="*/ 806196 h 806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70" h="806195">
                <a:moveTo>
                  <a:pt x="0" y="0"/>
                </a:moveTo>
                <a:lnTo>
                  <a:pt x="0" y="806196"/>
                </a:lnTo>
              </a:path>
            </a:pathLst>
          </a:custGeom>
          <a:noFill/>
          <a:ln w="2625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85" name="Szövegdoboz 84">
            <a:extLst>
              <a:ext uri="{FF2B5EF4-FFF2-40B4-BE49-F238E27FC236}">
                <a16:creationId xmlns:a16="http://schemas.microsoft.com/office/drawing/2014/main" id="{240F3870-92F4-CB52-9255-2D642BF4E0A4}"/>
              </a:ext>
            </a:extLst>
          </p:cNvPr>
          <p:cNvSpPr txBox="1"/>
          <p:nvPr/>
        </p:nvSpPr>
        <p:spPr>
          <a:xfrm>
            <a:off x="811222" y="5469266"/>
            <a:ext cx="1393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1200" spc="0" baseline="0" noProof="0" dirty="0">
                <a:ln/>
                <a:solidFill>
                  <a:srgbClr val="000000"/>
                </a:solidFill>
                <a:latin typeface="Courier New"/>
                <a:cs typeface="Courier New"/>
                <a:sym typeface="Courier New"/>
                <a:rtl val="0"/>
              </a:rPr>
              <a:t>&lt;0x123456789&gt;</a:t>
            </a:r>
          </a:p>
        </p:txBody>
      </p:sp>
      <p:sp>
        <p:nvSpPr>
          <p:cNvPr id="86" name="Szabadkézi sokszög: alakzat 85">
            <a:extLst>
              <a:ext uri="{FF2B5EF4-FFF2-40B4-BE49-F238E27FC236}">
                <a16:creationId xmlns:a16="http://schemas.microsoft.com/office/drawing/2014/main" id="{C1015F35-4F7E-C60C-CBE3-08F329BE3AF0}"/>
              </a:ext>
            </a:extLst>
          </p:cNvPr>
          <p:cNvSpPr/>
          <p:nvPr/>
        </p:nvSpPr>
        <p:spPr>
          <a:xfrm>
            <a:off x="3596372" y="5210560"/>
            <a:ext cx="140207" cy="105155"/>
          </a:xfrm>
          <a:custGeom>
            <a:avLst/>
            <a:gdLst>
              <a:gd name="connsiteX0" fmla="*/ 140208 w 140207"/>
              <a:gd name="connsiteY0" fmla="*/ 52578 h 105155"/>
              <a:gd name="connsiteX1" fmla="*/ 0 w 140207"/>
              <a:gd name="connsiteY1" fmla="*/ 105156 h 105155"/>
              <a:gd name="connsiteX2" fmla="*/ 0 w 140207"/>
              <a:gd name="connsiteY2" fmla="*/ 0 h 1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207" h="105155">
                <a:moveTo>
                  <a:pt x="140208" y="52578"/>
                </a:move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2156" cap="flat">
            <a:noFill/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87" name="Szabadkézi sokszög: alakzat 86">
            <a:extLst>
              <a:ext uri="{FF2B5EF4-FFF2-40B4-BE49-F238E27FC236}">
                <a16:creationId xmlns:a16="http://schemas.microsoft.com/office/drawing/2014/main" id="{94ADB679-55A2-4DFB-3EB3-6D7F724097B3}"/>
              </a:ext>
            </a:extLst>
          </p:cNvPr>
          <p:cNvSpPr/>
          <p:nvPr/>
        </p:nvSpPr>
        <p:spPr>
          <a:xfrm>
            <a:off x="2786805" y="4576253"/>
            <a:ext cx="879671" cy="686885"/>
          </a:xfrm>
          <a:custGeom>
            <a:avLst/>
            <a:gdLst>
              <a:gd name="connsiteX0" fmla="*/ 0 w 879671"/>
              <a:gd name="connsiteY0" fmla="*/ 0 h 686885"/>
              <a:gd name="connsiteX1" fmla="*/ 0 w 879671"/>
              <a:gd name="connsiteY1" fmla="*/ 262890 h 686885"/>
              <a:gd name="connsiteX2" fmla="*/ 80547 w 879671"/>
              <a:gd name="connsiteY2" fmla="*/ 606339 h 686885"/>
              <a:gd name="connsiteX3" fmla="*/ 423995 w 879671"/>
              <a:gd name="connsiteY3" fmla="*/ 686885 h 686885"/>
              <a:gd name="connsiteX4" fmla="*/ 783278 w 879671"/>
              <a:gd name="connsiteY4" fmla="*/ 686885 h 686885"/>
              <a:gd name="connsiteX5" fmla="*/ 879671 w 879671"/>
              <a:gd name="connsiteY5" fmla="*/ 686885 h 686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9671" h="686885">
                <a:moveTo>
                  <a:pt x="0" y="0"/>
                </a:moveTo>
                <a:lnTo>
                  <a:pt x="0" y="262890"/>
                </a:lnTo>
                <a:cubicBezTo>
                  <a:pt x="0" y="438150"/>
                  <a:pt x="26849" y="552629"/>
                  <a:pt x="80547" y="606339"/>
                </a:cubicBezTo>
                <a:cubicBezTo>
                  <a:pt x="134256" y="660036"/>
                  <a:pt x="248735" y="686885"/>
                  <a:pt x="423995" y="686885"/>
                </a:cubicBezTo>
                <a:cubicBezTo>
                  <a:pt x="599255" y="686885"/>
                  <a:pt x="719016" y="686885"/>
                  <a:pt x="783278" y="686885"/>
                </a:cubicBezTo>
                <a:lnTo>
                  <a:pt x="879671" y="686885"/>
                </a:lnTo>
              </a:path>
            </a:pathLst>
          </a:custGeom>
          <a:noFill/>
          <a:ln w="2625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B1CDF5-C173-D9FF-8B13-CCFDE2FDE88E}"/>
              </a:ext>
            </a:extLst>
          </p:cNvPr>
          <p:cNvGrpSpPr/>
          <p:nvPr/>
        </p:nvGrpSpPr>
        <p:grpSpPr>
          <a:xfrm>
            <a:off x="3736580" y="4319317"/>
            <a:ext cx="4758307" cy="1774382"/>
            <a:chOff x="3736580" y="4319317"/>
            <a:chExt cx="4758307" cy="1774382"/>
          </a:xfrm>
        </p:grpSpPr>
        <p:sp>
          <p:nvSpPr>
            <p:cNvPr id="88" name="Szabadkézi sokszög: alakzat 87">
              <a:extLst>
                <a:ext uri="{FF2B5EF4-FFF2-40B4-BE49-F238E27FC236}">
                  <a16:creationId xmlns:a16="http://schemas.microsoft.com/office/drawing/2014/main" id="{9779AF97-04F0-7BEA-6E46-C222FBEBD57D}"/>
                </a:ext>
              </a:extLst>
            </p:cNvPr>
            <p:cNvSpPr/>
            <p:nvPr/>
          </p:nvSpPr>
          <p:spPr>
            <a:xfrm>
              <a:off x="3736580" y="4874061"/>
              <a:ext cx="1051559" cy="778154"/>
            </a:xfrm>
            <a:custGeom>
              <a:avLst/>
              <a:gdLst>
                <a:gd name="connsiteX0" fmla="*/ 0 w 1051559"/>
                <a:gd name="connsiteY0" fmla="*/ 778154 h 778154"/>
                <a:gd name="connsiteX1" fmla="*/ 1051560 w 1051559"/>
                <a:gd name="connsiteY1" fmla="*/ 778154 h 778154"/>
                <a:gd name="connsiteX2" fmla="*/ 1051560 w 1051559"/>
                <a:gd name="connsiteY2" fmla="*/ 0 h 778154"/>
                <a:gd name="connsiteX3" fmla="*/ 0 w 1051559"/>
                <a:gd name="connsiteY3" fmla="*/ 0 h 77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559" h="778154">
                  <a:moveTo>
                    <a:pt x="0" y="778154"/>
                  </a:moveTo>
                  <a:lnTo>
                    <a:pt x="1051560" y="778154"/>
                  </a:lnTo>
                  <a:lnTo>
                    <a:pt x="105156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6257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hu-HU" noProof="0" dirty="0"/>
            </a:p>
          </p:txBody>
        </p:sp>
        <p:sp>
          <p:nvSpPr>
            <p:cNvPr id="89" name="Szabadkézi sokszög: alakzat 88">
              <a:extLst>
                <a:ext uri="{FF2B5EF4-FFF2-40B4-BE49-F238E27FC236}">
                  <a16:creationId xmlns:a16="http://schemas.microsoft.com/office/drawing/2014/main" id="{BECFF086-20EB-32D8-D882-F8736FAB26A7}"/>
                </a:ext>
              </a:extLst>
            </p:cNvPr>
            <p:cNvSpPr/>
            <p:nvPr/>
          </p:nvSpPr>
          <p:spPr>
            <a:xfrm>
              <a:off x="4788140" y="4874061"/>
              <a:ext cx="1051559" cy="778154"/>
            </a:xfrm>
            <a:custGeom>
              <a:avLst/>
              <a:gdLst>
                <a:gd name="connsiteX0" fmla="*/ 0 w 1051559"/>
                <a:gd name="connsiteY0" fmla="*/ 778154 h 778154"/>
                <a:gd name="connsiteX1" fmla="*/ 1051560 w 1051559"/>
                <a:gd name="connsiteY1" fmla="*/ 778154 h 778154"/>
                <a:gd name="connsiteX2" fmla="*/ 1051560 w 1051559"/>
                <a:gd name="connsiteY2" fmla="*/ 0 h 778154"/>
                <a:gd name="connsiteX3" fmla="*/ 0 w 1051559"/>
                <a:gd name="connsiteY3" fmla="*/ 0 h 77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559" h="778154">
                  <a:moveTo>
                    <a:pt x="0" y="778154"/>
                  </a:moveTo>
                  <a:lnTo>
                    <a:pt x="1051560" y="778154"/>
                  </a:lnTo>
                  <a:lnTo>
                    <a:pt x="105156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6257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hu-HU" noProof="0" dirty="0"/>
            </a:p>
          </p:txBody>
        </p:sp>
        <p:sp>
          <p:nvSpPr>
            <p:cNvPr id="90" name="Szabadkézi sokszög: alakzat 89">
              <a:extLst>
                <a:ext uri="{FF2B5EF4-FFF2-40B4-BE49-F238E27FC236}">
                  <a16:creationId xmlns:a16="http://schemas.microsoft.com/office/drawing/2014/main" id="{6065716D-B5E1-EFB0-A785-7951FE06F308}"/>
                </a:ext>
              </a:extLst>
            </p:cNvPr>
            <p:cNvSpPr/>
            <p:nvPr/>
          </p:nvSpPr>
          <p:spPr>
            <a:xfrm>
              <a:off x="5839700" y="4874061"/>
              <a:ext cx="1051560" cy="778154"/>
            </a:xfrm>
            <a:custGeom>
              <a:avLst/>
              <a:gdLst>
                <a:gd name="connsiteX0" fmla="*/ 0 w 1051560"/>
                <a:gd name="connsiteY0" fmla="*/ 778154 h 778154"/>
                <a:gd name="connsiteX1" fmla="*/ 1051560 w 1051560"/>
                <a:gd name="connsiteY1" fmla="*/ 778154 h 778154"/>
                <a:gd name="connsiteX2" fmla="*/ 1051560 w 1051560"/>
                <a:gd name="connsiteY2" fmla="*/ 0 h 778154"/>
                <a:gd name="connsiteX3" fmla="*/ 0 w 1051560"/>
                <a:gd name="connsiteY3" fmla="*/ 0 h 77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560" h="778154">
                  <a:moveTo>
                    <a:pt x="0" y="778154"/>
                  </a:moveTo>
                  <a:lnTo>
                    <a:pt x="1051560" y="778154"/>
                  </a:lnTo>
                  <a:lnTo>
                    <a:pt x="105156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6257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hu-HU" noProof="0" dirty="0"/>
            </a:p>
          </p:txBody>
        </p:sp>
        <p:sp>
          <p:nvSpPr>
            <p:cNvPr id="91" name="Szabadkézi sokszög: alakzat 90">
              <a:extLst>
                <a:ext uri="{FF2B5EF4-FFF2-40B4-BE49-F238E27FC236}">
                  <a16:creationId xmlns:a16="http://schemas.microsoft.com/office/drawing/2014/main" id="{3529BF17-1B3A-4A78-33C6-5B9645A30E1D}"/>
                </a:ext>
              </a:extLst>
            </p:cNvPr>
            <p:cNvSpPr/>
            <p:nvPr/>
          </p:nvSpPr>
          <p:spPr>
            <a:xfrm>
              <a:off x="6891260" y="4874061"/>
              <a:ext cx="1051559" cy="778154"/>
            </a:xfrm>
            <a:custGeom>
              <a:avLst/>
              <a:gdLst>
                <a:gd name="connsiteX0" fmla="*/ 0 w 1051559"/>
                <a:gd name="connsiteY0" fmla="*/ 778154 h 778154"/>
                <a:gd name="connsiteX1" fmla="*/ 1051559 w 1051559"/>
                <a:gd name="connsiteY1" fmla="*/ 778154 h 778154"/>
                <a:gd name="connsiteX2" fmla="*/ 1051559 w 1051559"/>
                <a:gd name="connsiteY2" fmla="*/ 0 h 778154"/>
                <a:gd name="connsiteX3" fmla="*/ 0 w 1051559"/>
                <a:gd name="connsiteY3" fmla="*/ 0 h 77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559" h="778154">
                  <a:moveTo>
                    <a:pt x="0" y="778154"/>
                  </a:moveTo>
                  <a:lnTo>
                    <a:pt x="1051559" y="778154"/>
                  </a:lnTo>
                  <a:lnTo>
                    <a:pt x="105155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6257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hu-HU" noProof="0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EB9B5BE-95AE-DAE0-1BA7-EE512F93D29B}"/>
                </a:ext>
              </a:extLst>
            </p:cNvPr>
            <p:cNvGrpSpPr/>
            <p:nvPr/>
          </p:nvGrpSpPr>
          <p:grpSpPr>
            <a:xfrm>
              <a:off x="8091790" y="5236849"/>
              <a:ext cx="403097" cy="52577"/>
              <a:chOff x="8091790" y="5236849"/>
              <a:chExt cx="403097" cy="52577"/>
            </a:xfrm>
          </p:grpSpPr>
          <p:sp>
            <p:nvSpPr>
              <p:cNvPr id="92" name="Szabadkézi sokszög: alakzat 91">
                <a:extLst>
                  <a:ext uri="{FF2B5EF4-FFF2-40B4-BE49-F238E27FC236}">
                    <a16:creationId xmlns:a16="http://schemas.microsoft.com/office/drawing/2014/main" id="{9CA43E61-9E6C-77CA-BD34-6E0D3A5DCC8C}"/>
                  </a:ext>
                </a:extLst>
              </p:cNvPr>
              <p:cNvSpPr/>
              <p:nvPr/>
            </p:nvSpPr>
            <p:spPr>
              <a:xfrm>
                <a:off x="8091790" y="5236849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93" name="Szabadkézi sokszög: alakzat 92">
                <a:extLst>
                  <a:ext uri="{FF2B5EF4-FFF2-40B4-BE49-F238E27FC236}">
                    <a16:creationId xmlns:a16="http://schemas.microsoft.com/office/drawing/2014/main" id="{C3B0737A-70B6-47F5-23D2-85AA00F35CE6}"/>
                  </a:ext>
                </a:extLst>
              </p:cNvPr>
              <p:cNvSpPr/>
              <p:nvPr/>
            </p:nvSpPr>
            <p:spPr>
              <a:xfrm>
                <a:off x="8267050" y="5236849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1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1" y="40808"/>
                      <a:pt x="1" y="26289"/>
                    </a:cubicBezTo>
                    <a:cubicBezTo>
                      <a:pt x="1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94" name="Szabadkézi sokszög: alakzat 93">
                <a:extLst>
                  <a:ext uri="{FF2B5EF4-FFF2-40B4-BE49-F238E27FC236}">
                    <a16:creationId xmlns:a16="http://schemas.microsoft.com/office/drawing/2014/main" id="{4A0A894D-C5E2-AEED-50D6-E049208B749D}"/>
                  </a:ext>
                </a:extLst>
              </p:cNvPr>
              <p:cNvSpPr/>
              <p:nvPr/>
            </p:nvSpPr>
            <p:spPr>
              <a:xfrm>
                <a:off x="8442310" y="5236849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</p:grpSp>
        <p:sp>
          <p:nvSpPr>
            <p:cNvPr id="95" name="Szövegdoboz 94">
              <a:extLst>
                <a:ext uri="{FF2B5EF4-FFF2-40B4-BE49-F238E27FC236}">
                  <a16:creationId xmlns:a16="http://schemas.microsoft.com/office/drawing/2014/main" id="{E08DC2A3-4EC9-1D46-7DE4-715C221B6360}"/>
                </a:ext>
              </a:extLst>
            </p:cNvPr>
            <p:cNvSpPr txBox="1"/>
            <p:nvPr/>
          </p:nvSpPr>
          <p:spPr>
            <a:xfrm>
              <a:off x="3842208" y="4319317"/>
              <a:ext cx="18918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hu-HU" sz="1400" spc="0" baseline="0" noProof="0" dirty="0">
                  <a:ln/>
                  <a:solidFill>
                    <a:srgbClr val="000000"/>
                  </a:solidFill>
                  <a:cs typeface="Arial"/>
                  <a:sym typeface="Arial"/>
                  <a:rtl val="0"/>
                </a:rPr>
                <a:t>Kontextus paraméter</a:t>
              </a:r>
            </a:p>
          </p:txBody>
        </p:sp>
        <p:grpSp>
          <p:nvGrpSpPr>
            <p:cNvPr id="126" name="Csoportba foglalás 125">
              <a:extLst>
                <a:ext uri="{FF2B5EF4-FFF2-40B4-BE49-F238E27FC236}">
                  <a16:creationId xmlns:a16="http://schemas.microsoft.com/office/drawing/2014/main" id="{E1D7D258-B474-8158-69C9-C20459419D18}"/>
                </a:ext>
              </a:extLst>
            </p:cNvPr>
            <p:cNvGrpSpPr/>
            <p:nvPr/>
          </p:nvGrpSpPr>
          <p:grpSpPr>
            <a:xfrm>
              <a:off x="3736580" y="4591150"/>
              <a:ext cx="2103120" cy="282910"/>
              <a:chOff x="3736580" y="4591150"/>
              <a:chExt cx="2103120" cy="282910"/>
            </a:xfrm>
          </p:grpSpPr>
          <p:sp>
            <p:nvSpPr>
              <p:cNvPr id="96" name="Szabadkézi sokszög: alakzat 95">
                <a:extLst>
                  <a:ext uri="{FF2B5EF4-FFF2-40B4-BE49-F238E27FC236}">
                    <a16:creationId xmlns:a16="http://schemas.microsoft.com/office/drawing/2014/main" id="{32B49514-6E55-22D0-FDCE-BA559995E7B2}"/>
                  </a:ext>
                </a:extLst>
              </p:cNvPr>
              <p:cNvSpPr/>
              <p:nvPr/>
            </p:nvSpPr>
            <p:spPr>
              <a:xfrm>
                <a:off x="3736580" y="4591150"/>
                <a:ext cx="1054554" cy="282910"/>
              </a:xfrm>
              <a:custGeom>
                <a:avLst/>
                <a:gdLst>
                  <a:gd name="connsiteX0" fmla="*/ 0 w 1054554"/>
                  <a:gd name="connsiteY0" fmla="*/ 282911 h 282910"/>
                  <a:gd name="connsiteX1" fmla="*/ 0 w 1054554"/>
                  <a:gd name="connsiteY1" fmla="*/ 265385 h 282910"/>
                  <a:gd name="connsiteX2" fmla="*/ 61962 w 1054554"/>
                  <a:gd name="connsiteY2" fmla="*/ 185897 h 282910"/>
                  <a:gd name="connsiteX3" fmla="*/ 527277 w 1054554"/>
                  <a:gd name="connsiteY3" fmla="*/ 123936 h 282910"/>
                  <a:gd name="connsiteX4" fmla="*/ 992592 w 1054554"/>
                  <a:gd name="connsiteY4" fmla="*/ 61974 h 282910"/>
                  <a:gd name="connsiteX5" fmla="*/ 1054554 w 1054554"/>
                  <a:gd name="connsiteY5" fmla="*/ 0 h 28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4554" h="282910">
                    <a:moveTo>
                      <a:pt x="0" y="282911"/>
                    </a:moveTo>
                    <a:lnTo>
                      <a:pt x="0" y="265385"/>
                    </a:lnTo>
                    <a:cubicBezTo>
                      <a:pt x="0" y="253701"/>
                      <a:pt x="20654" y="227205"/>
                      <a:pt x="61962" y="185897"/>
                    </a:cubicBezTo>
                    <a:cubicBezTo>
                      <a:pt x="103270" y="144589"/>
                      <a:pt x="258375" y="123936"/>
                      <a:pt x="527277" y="123936"/>
                    </a:cubicBezTo>
                    <a:cubicBezTo>
                      <a:pt x="796179" y="123936"/>
                      <a:pt x="951284" y="103282"/>
                      <a:pt x="992592" y="61974"/>
                    </a:cubicBezTo>
                    <a:lnTo>
                      <a:pt x="1054554" y="0"/>
                    </a:lnTo>
                  </a:path>
                </a:pathLst>
              </a:custGeom>
              <a:noFill/>
              <a:ln w="17592" cap="flat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97" name="Szabadkézi sokszög: alakzat 96">
                <a:extLst>
                  <a:ext uri="{FF2B5EF4-FFF2-40B4-BE49-F238E27FC236}">
                    <a16:creationId xmlns:a16="http://schemas.microsoft.com/office/drawing/2014/main" id="{A0B423F3-A9BE-DC91-7AB5-F73A35627752}"/>
                  </a:ext>
                </a:extLst>
              </p:cNvPr>
              <p:cNvSpPr/>
              <p:nvPr/>
            </p:nvSpPr>
            <p:spPr>
              <a:xfrm>
                <a:off x="4785134" y="4591150"/>
                <a:ext cx="1054566" cy="282910"/>
              </a:xfrm>
              <a:custGeom>
                <a:avLst/>
                <a:gdLst>
                  <a:gd name="connsiteX0" fmla="*/ 1054566 w 1054566"/>
                  <a:gd name="connsiteY0" fmla="*/ 282911 h 282910"/>
                  <a:gd name="connsiteX1" fmla="*/ 1054566 w 1054566"/>
                  <a:gd name="connsiteY1" fmla="*/ 265385 h 282910"/>
                  <a:gd name="connsiteX2" fmla="*/ 992592 w 1054566"/>
                  <a:gd name="connsiteY2" fmla="*/ 185897 h 282910"/>
                  <a:gd name="connsiteX3" fmla="*/ 527277 w 1054566"/>
                  <a:gd name="connsiteY3" fmla="*/ 123936 h 282910"/>
                  <a:gd name="connsiteX4" fmla="*/ 61962 w 1054566"/>
                  <a:gd name="connsiteY4" fmla="*/ 61974 h 282910"/>
                  <a:gd name="connsiteX5" fmla="*/ 0 w 1054566"/>
                  <a:gd name="connsiteY5" fmla="*/ 0 h 28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4566" h="282910">
                    <a:moveTo>
                      <a:pt x="1054566" y="282911"/>
                    </a:moveTo>
                    <a:lnTo>
                      <a:pt x="1054566" y="265385"/>
                    </a:lnTo>
                    <a:cubicBezTo>
                      <a:pt x="1054566" y="253701"/>
                      <a:pt x="1033912" y="227205"/>
                      <a:pt x="992592" y="185897"/>
                    </a:cubicBezTo>
                    <a:cubicBezTo>
                      <a:pt x="951285" y="144589"/>
                      <a:pt x="796179" y="123936"/>
                      <a:pt x="527277" y="123936"/>
                    </a:cubicBezTo>
                    <a:cubicBezTo>
                      <a:pt x="258387" y="123936"/>
                      <a:pt x="103282" y="103282"/>
                      <a:pt x="61962" y="61974"/>
                    </a:cubicBezTo>
                    <a:lnTo>
                      <a:pt x="0" y="0"/>
                    </a:lnTo>
                  </a:path>
                </a:pathLst>
              </a:custGeom>
              <a:noFill/>
              <a:ln w="17592" cap="flat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</p:grpSp>
        <p:sp>
          <p:nvSpPr>
            <p:cNvPr id="98" name="Szövegdoboz 97">
              <a:extLst>
                <a:ext uri="{FF2B5EF4-FFF2-40B4-BE49-F238E27FC236}">
                  <a16:creationId xmlns:a16="http://schemas.microsoft.com/office/drawing/2014/main" id="{64B6C418-B467-9317-D90C-E7BC978310CE}"/>
                </a:ext>
              </a:extLst>
            </p:cNvPr>
            <p:cNvSpPr txBox="1"/>
            <p:nvPr/>
          </p:nvSpPr>
          <p:spPr>
            <a:xfrm>
              <a:off x="5945327" y="4319317"/>
              <a:ext cx="18918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hu-HU" sz="1400" spc="0" baseline="0" noProof="0" dirty="0">
                  <a:ln/>
                  <a:solidFill>
                    <a:srgbClr val="000000"/>
                  </a:solidFill>
                  <a:cs typeface="Arial"/>
                  <a:sym typeface="Arial"/>
                  <a:rtl val="0"/>
                </a:rPr>
                <a:t>Kontextus paraméter</a:t>
              </a:r>
            </a:p>
          </p:txBody>
        </p:sp>
        <p:grpSp>
          <p:nvGrpSpPr>
            <p:cNvPr id="127" name="Csoportba foglalás 126">
              <a:extLst>
                <a:ext uri="{FF2B5EF4-FFF2-40B4-BE49-F238E27FC236}">
                  <a16:creationId xmlns:a16="http://schemas.microsoft.com/office/drawing/2014/main" id="{C64DED10-6C1D-F8B0-28AA-B4FDE8C6ABE1}"/>
                </a:ext>
              </a:extLst>
            </p:cNvPr>
            <p:cNvGrpSpPr/>
            <p:nvPr/>
          </p:nvGrpSpPr>
          <p:grpSpPr>
            <a:xfrm>
              <a:off x="5839700" y="4591150"/>
              <a:ext cx="2103118" cy="282910"/>
              <a:chOff x="5839700" y="4591150"/>
              <a:chExt cx="2103118" cy="282910"/>
            </a:xfrm>
          </p:grpSpPr>
          <p:sp>
            <p:nvSpPr>
              <p:cNvPr id="99" name="Szabadkézi sokszög: alakzat 98">
                <a:extLst>
                  <a:ext uri="{FF2B5EF4-FFF2-40B4-BE49-F238E27FC236}">
                    <a16:creationId xmlns:a16="http://schemas.microsoft.com/office/drawing/2014/main" id="{E7EFA784-BEAF-EFC7-6B2E-1E0E18569B68}"/>
                  </a:ext>
                </a:extLst>
              </p:cNvPr>
              <p:cNvSpPr/>
              <p:nvPr/>
            </p:nvSpPr>
            <p:spPr>
              <a:xfrm>
                <a:off x="5839700" y="4591150"/>
                <a:ext cx="1054553" cy="282910"/>
              </a:xfrm>
              <a:custGeom>
                <a:avLst/>
                <a:gdLst>
                  <a:gd name="connsiteX0" fmla="*/ 0 w 1054553"/>
                  <a:gd name="connsiteY0" fmla="*/ 282911 h 282910"/>
                  <a:gd name="connsiteX1" fmla="*/ 0 w 1054553"/>
                  <a:gd name="connsiteY1" fmla="*/ 265385 h 282910"/>
                  <a:gd name="connsiteX2" fmla="*/ 61962 w 1054553"/>
                  <a:gd name="connsiteY2" fmla="*/ 185897 h 282910"/>
                  <a:gd name="connsiteX3" fmla="*/ 527277 w 1054553"/>
                  <a:gd name="connsiteY3" fmla="*/ 123936 h 282910"/>
                  <a:gd name="connsiteX4" fmla="*/ 992592 w 1054553"/>
                  <a:gd name="connsiteY4" fmla="*/ 61974 h 282910"/>
                  <a:gd name="connsiteX5" fmla="*/ 1054554 w 1054553"/>
                  <a:gd name="connsiteY5" fmla="*/ 0 h 28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4553" h="282910">
                    <a:moveTo>
                      <a:pt x="0" y="282911"/>
                    </a:moveTo>
                    <a:lnTo>
                      <a:pt x="0" y="265385"/>
                    </a:lnTo>
                    <a:cubicBezTo>
                      <a:pt x="0" y="253701"/>
                      <a:pt x="20654" y="227205"/>
                      <a:pt x="61962" y="185897"/>
                    </a:cubicBezTo>
                    <a:cubicBezTo>
                      <a:pt x="103270" y="144589"/>
                      <a:pt x="258375" y="123936"/>
                      <a:pt x="527277" y="123936"/>
                    </a:cubicBezTo>
                    <a:cubicBezTo>
                      <a:pt x="796179" y="123936"/>
                      <a:pt x="951285" y="103282"/>
                      <a:pt x="992592" y="61974"/>
                    </a:cubicBezTo>
                    <a:lnTo>
                      <a:pt x="1054554" y="0"/>
                    </a:lnTo>
                  </a:path>
                </a:pathLst>
              </a:custGeom>
              <a:noFill/>
              <a:ln w="17592" cap="flat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00" name="Szabadkézi sokszög: alakzat 99">
                <a:extLst>
                  <a:ext uri="{FF2B5EF4-FFF2-40B4-BE49-F238E27FC236}">
                    <a16:creationId xmlns:a16="http://schemas.microsoft.com/office/drawing/2014/main" id="{D4A52D9D-BCC1-166A-82C4-2AC15412AEB4}"/>
                  </a:ext>
                </a:extLst>
              </p:cNvPr>
              <p:cNvSpPr/>
              <p:nvPr/>
            </p:nvSpPr>
            <p:spPr>
              <a:xfrm>
                <a:off x="6888253" y="4591150"/>
                <a:ext cx="1054565" cy="282910"/>
              </a:xfrm>
              <a:custGeom>
                <a:avLst/>
                <a:gdLst>
                  <a:gd name="connsiteX0" fmla="*/ 1054566 w 1054565"/>
                  <a:gd name="connsiteY0" fmla="*/ 282911 h 282910"/>
                  <a:gd name="connsiteX1" fmla="*/ 1054566 w 1054565"/>
                  <a:gd name="connsiteY1" fmla="*/ 265385 h 282910"/>
                  <a:gd name="connsiteX2" fmla="*/ 992592 w 1054565"/>
                  <a:gd name="connsiteY2" fmla="*/ 185897 h 282910"/>
                  <a:gd name="connsiteX3" fmla="*/ 527277 w 1054565"/>
                  <a:gd name="connsiteY3" fmla="*/ 123936 h 282910"/>
                  <a:gd name="connsiteX4" fmla="*/ 61962 w 1054565"/>
                  <a:gd name="connsiteY4" fmla="*/ 61974 h 282910"/>
                  <a:gd name="connsiteX5" fmla="*/ 0 w 1054565"/>
                  <a:gd name="connsiteY5" fmla="*/ 0 h 28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54565" h="282910">
                    <a:moveTo>
                      <a:pt x="1054566" y="282911"/>
                    </a:moveTo>
                    <a:lnTo>
                      <a:pt x="1054566" y="265385"/>
                    </a:lnTo>
                    <a:cubicBezTo>
                      <a:pt x="1054566" y="253701"/>
                      <a:pt x="1033912" y="227205"/>
                      <a:pt x="992592" y="185897"/>
                    </a:cubicBezTo>
                    <a:cubicBezTo>
                      <a:pt x="951285" y="144589"/>
                      <a:pt x="796179" y="123936"/>
                      <a:pt x="527277" y="123936"/>
                    </a:cubicBezTo>
                    <a:cubicBezTo>
                      <a:pt x="258387" y="123936"/>
                      <a:pt x="103281" y="103282"/>
                      <a:pt x="61962" y="61974"/>
                    </a:cubicBezTo>
                    <a:lnTo>
                      <a:pt x="0" y="0"/>
                    </a:lnTo>
                  </a:path>
                </a:pathLst>
              </a:custGeom>
              <a:noFill/>
              <a:ln w="17592" cap="flat">
                <a:solidFill>
                  <a:srgbClr val="80808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</p:grpSp>
        <p:sp>
          <p:nvSpPr>
            <p:cNvPr id="103" name="Szövegdoboz 102">
              <a:extLst>
                <a:ext uri="{FF2B5EF4-FFF2-40B4-BE49-F238E27FC236}">
                  <a16:creationId xmlns:a16="http://schemas.microsoft.com/office/drawing/2014/main" id="{A0D74E3C-5770-8859-73CB-FBA60077D309}"/>
                </a:ext>
              </a:extLst>
            </p:cNvPr>
            <p:cNvSpPr txBox="1"/>
            <p:nvPr/>
          </p:nvSpPr>
          <p:spPr>
            <a:xfrm>
              <a:off x="3895913" y="5022263"/>
              <a:ext cx="73289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hu-HU" sz="1000" spc="0" baseline="0" noProof="0" dirty="0">
                  <a:ln/>
                  <a:solidFill>
                    <a:srgbClr val="000000"/>
                  </a:solidFill>
                  <a:cs typeface="Arial"/>
                  <a:sym typeface="Arial"/>
                  <a:rtl val="0"/>
                </a:rPr>
                <a:t>Függvény</a:t>
              </a:r>
            </a:p>
          </p:txBody>
        </p:sp>
        <p:sp>
          <p:nvSpPr>
            <p:cNvPr id="104" name="Szövegdoboz 103">
              <a:extLst>
                <a:ext uri="{FF2B5EF4-FFF2-40B4-BE49-F238E27FC236}">
                  <a16:creationId xmlns:a16="http://schemas.microsoft.com/office/drawing/2014/main" id="{4E9663E7-831B-9206-5232-7DE28520AC55}"/>
                </a:ext>
              </a:extLst>
            </p:cNvPr>
            <p:cNvSpPr txBox="1"/>
            <p:nvPr/>
          </p:nvSpPr>
          <p:spPr>
            <a:xfrm>
              <a:off x="4928237" y="5022263"/>
              <a:ext cx="77136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hu-HU" sz="1000" spc="0" baseline="0" noProof="0" dirty="0">
                  <a:ln/>
                  <a:solidFill>
                    <a:srgbClr val="000000"/>
                  </a:solidFill>
                  <a:cs typeface="Arial"/>
                  <a:sym typeface="Arial"/>
                  <a:rtl val="0"/>
                </a:rPr>
                <a:t>Kontextus</a:t>
              </a:r>
            </a:p>
          </p:txBody>
        </p:sp>
        <p:sp>
          <p:nvSpPr>
            <p:cNvPr id="107" name="Szövegdoboz 106">
              <a:extLst>
                <a:ext uri="{FF2B5EF4-FFF2-40B4-BE49-F238E27FC236}">
                  <a16:creationId xmlns:a16="http://schemas.microsoft.com/office/drawing/2014/main" id="{2FDC4CC7-9954-BF8F-19CF-B399391A5F56}"/>
                </a:ext>
              </a:extLst>
            </p:cNvPr>
            <p:cNvSpPr txBox="1"/>
            <p:nvPr/>
          </p:nvSpPr>
          <p:spPr>
            <a:xfrm>
              <a:off x="5999034" y="5022263"/>
              <a:ext cx="73289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hu-HU" sz="1000" spc="0" baseline="0" noProof="0" dirty="0">
                  <a:ln/>
                  <a:solidFill>
                    <a:srgbClr val="000000"/>
                  </a:solidFill>
                  <a:cs typeface="Arial"/>
                  <a:sym typeface="Arial"/>
                  <a:rtl val="0"/>
                </a:rPr>
                <a:t>Függvény</a:t>
              </a:r>
            </a:p>
          </p:txBody>
        </p:sp>
        <p:sp>
          <p:nvSpPr>
            <p:cNvPr id="108" name="Szövegdoboz 107">
              <a:extLst>
                <a:ext uri="{FF2B5EF4-FFF2-40B4-BE49-F238E27FC236}">
                  <a16:creationId xmlns:a16="http://schemas.microsoft.com/office/drawing/2014/main" id="{F73DF05E-C22C-B80A-7DB0-7F6728B2BD6A}"/>
                </a:ext>
              </a:extLst>
            </p:cNvPr>
            <p:cNvSpPr txBox="1"/>
            <p:nvPr/>
          </p:nvSpPr>
          <p:spPr>
            <a:xfrm>
              <a:off x="7031357" y="5022263"/>
              <a:ext cx="77136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hu-HU" sz="1000" spc="0" baseline="0" noProof="0" dirty="0">
                  <a:ln/>
                  <a:solidFill>
                    <a:srgbClr val="000000"/>
                  </a:solidFill>
                  <a:cs typeface="Arial"/>
                  <a:sym typeface="Arial"/>
                  <a:rtl val="0"/>
                </a:rPr>
                <a:t>Kontextus</a:t>
              </a:r>
            </a:p>
          </p:txBody>
        </p:sp>
        <p:grpSp>
          <p:nvGrpSpPr>
            <p:cNvPr id="128" name="Csoportba foglalás 127">
              <a:extLst>
                <a:ext uri="{FF2B5EF4-FFF2-40B4-BE49-F238E27FC236}">
                  <a16:creationId xmlns:a16="http://schemas.microsoft.com/office/drawing/2014/main" id="{874384EB-8E20-9937-20E3-978BF8F743C5}"/>
                </a:ext>
              </a:extLst>
            </p:cNvPr>
            <p:cNvGrpSpPr/>
            <p:nvPr/>
          </p:nvGrpSpPr>
          <p:grpSpPr>
            <a:xfrm>
              <a:off x="4209782" y="5333242"/>
              <a:ext cx="105155" cy="760457"/>
              <a:chOff x="4209782" y="5333242"/>
              <a:chExt cx="105155" cy="760457"/>
            </a:xfrm>
          </p:grpSpPr>
          <p:sp>
            <p:nvSpPr>
              <p:cNvPr id="101" name="Szabadkézi sokszög: alakzat 100">
                <a:extLst>
                  <a:ext uri="{FF2B5EF4-FFF2-40B4-BE49-F238E27FC236}">
                    <a16:creationId xmlns:a16="http://schemas.microsoft.com/office/drawing/2014/main" id="{5A97D243-EDCD-9C48-4714-30FBA6CF9A09}"/>
                  </a:ext>
                </a:extLst>
              </p:cNvPr>
              <p:cNvSpPr/>
              <p:nvPr/>
            </p:nvSpPr>
            <p:spPr>
              <a:xfrm>
                <a:off x="4209782" y="5333242"/>
                <a:ext cx="105155" cy="105155"/>
              </a:xfrm>
              <a:custGeom>
                <a:avLst/>
                <a:gdLst>
                  <a:gd name="connsiteX0" fmla="*/ 105156 w 105155"/>
                  <a:gd name="connsiteY0" fmla="*/ 52578 h 105155"/>
                  <a:gd name="connsiteX1" fmla="*/ 52578 w 105155"/>
                  <a:gd name="connsiteY1" fmla="*/ 105156 h 105155"/>
                  <a:gd name="connsiteX2" fmla="*/ 0 w 105155"/>
                  <a:gd name="connsiteY2" fmla="*/ 52578 h 105155"/>
                  <a:gd name="connsiteX3" fmla="*/ 52578 w 105155"/>
                  <a:gd name="connsiteY3" fmla="*/ 0 h 105155"/>
                  <a:gd name="connsiteX4" fmla="*/ 105156 w 105155"/>
                  <a:gd name="connsiteY4" fmla="*/ 52578 h 105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155" h="105155">
                    <a:moveTo>
                      <a:pt x="105156" y="52578"/>
                    </a:moveTo>
                    <a:cubicBezTo>
                      <a:pt x="105156" y="81616"/>
                      <a:pt x="81616" y="105156"/>
                      <a:pt x="52578" y="105156"/>
                    </a:cubicBezTo>
                    <a:cubicBezTo>
                      <a:pt x="23540" y="105156"/>
                      <a:pt x="0" y="81616"/>
                      <a:pt x="0" y="52578"/>
                    </a:cubicBezTo>
                    <a:cubicBezTo>
                      <a:pt x="0" y="23540"/>
                      <a:pt x="23540" y="0"/>
                      <a:pt x="52578" y="0"/>
                    </a:cubicBezTo>
                    <a:cubicBezTo>
                      <a:pt x="81616" y="0"/>
                      <a:pt x="105156" y="23540"/>
                      <a:pt x="105156" y="525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3938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09" name="Szabadkézi sokszög: alakzat 108">
                <a:extLst>
                  <a:ext uri="{FF2B5EF4-FFF2-40B4-BE49-F238E27FC236}">
                    <a16:creationId xmlns:a16="http://schemas.microsoft.com/office/drawing/2014/main" id="{35F2BCCF-9602-7AC2-37B8-C904FEF54810}"/>
                  </a:ext>
                </a:extLst>
              </p:cNvPr>
              <p:cNvSpPr/>
              <p:nvPr/>
            </p:nvSpPr>
            <p:spPr>
              <a:xfrm>
                <a:off x="4262360" y="5385820"/>
                <a:ext cx="12170" cy="436227"/>
              </a:xfrm>
              <a:custGeom>
                <a:avLst/>
                <a:gdLst>
                  <a:gd name="connsiteX0" fmla="*/ 0 w 12170"/>
                  <a:gd name="connsiteY0" fmla="*/ 0 h 436227"/>
                  <a:gd name="connsiteX1" fmla="*/ 0 w 12170"/>
                  <a:gd name="connsiteY1" fmla="*/ 436227 h 436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70" h="436227">
                    <a:moveTo>
                      <a:pt x="0" y="0"/>
                    </a:moveTo>
                    <a:lnTo>
                      <a:pt x="0" y="436227"/>
                    </a:lnTo>
                  </a:path>
                </a:pathLst>
              </a:custGeom>
              <a:noFill/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10" name="Szabadkézi sokszög: alakzat 109">
                <a:extLst>
                  <a:ext uri="{FF2B5EF4-FFF2-40B4-BE49-F238E27FC236}">
                    <a16:creationId xmlns:a16="http://schemas.microsoft.com/office/drawing/2014/main" id="{C98F52FD-7EC1-368B-AAC5-4F22CA119A39}"/>
                  </a:ext>
                </a:extLst>
              </p:cNvPr>
              <p:cNvSpPr/>
              <p:nvPr/>
            </p:nvSpPr>
            <p:spPr>
              <a:xfrm>
                <a:off x="4236071" y="5795758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11" name="Szabadkézi sokszög: alakzat 110">
                <a:extLst>
                  <a:ext uri="{FF2B5EF4-FFF2-40B4-BE49-F238E27FC236}">
                    <a16:creationId xmlns:a16="http://schemas.microsoft.com/office/drawing/2014/main" id="{DC31F0D9-E726-4426-2401-A2EBDB373032}"/>
                  </a:ext>
                </a:extLst>
              </p:cNvPr>
              <p:cNvSpPr/>
              <p:nvPr/>
            </p:nvSpPr>
            <p:spPr>
              <a:xfrm>
                <a:off x="4236071" y="5918440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12" name="Szabadkézi sokszög: alakzat 111">
                <a:extLst>
                  <a:ext uri="{FF2B5EF4-FFF2-40B4-BE49-F238E27FC236}">
                    <a16:creationId xmlns:a16="http://schemas.microsoft.com/office/drawing/2014/main" id="{D140A56D-01AF-46AB-8CD4-C95147F00F9A}"/>
                  </a:ext>
                </a:extLst>
              </p:cNvPr>
              <p:cNvSpPr/>
              <p:nvPr/>
            </p:nvSpPr>
            <p:spPr>
              <a:xfrm>
                <a:off x="4236071" y="6041122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</p:grpSp>
        <p:grpSp>
          <p:nvGrpSpPr>
            <p:cNvPr id="130" name="Csoportba foglalás 129">
              <a:extLst>
                <a:ext uri="{FF2B5EF4-FFF2-40B4-BE49-F238E27FC236}">
                  <a16:creationId xmlns:a16="http://schemas.microsoft.com/office/drawing/2014/main" id="{28FCDB2B-8257-AC76-A2C9-9C4426809E4E}"/>
                </a:ext>
              </a:extLst>
            </p:cNvPr>
            <p:cNvGrpSpPr/>
            <p:nvPr/>
          </p:nvGrpSpPr>
          <p:grpSpPr>
            <a:xfrm>
              <a:off x="5261342" y="5333242"/>
              <a:ext cx="105155" cy="760457"/>
              <a:chOff x="5261342" y="5333242"/>
              <a:chExt cx="105155" cy="760457"/>
            </a:xfrm>
          </p:grpSpPr>
          <p:sp>
            <p:nvSpPr>
              <p:cNvPr id="102" name="Szabadkézi sokszög: alakzat 101">
                <a:extLst>
                  <a:ext uri="{FF2B5EF4-FFF2-40B4-BE49-F238E27FC236}">
                    <a16:creationId xmlns:a16="http://schemas.microsoft.com/office/drawing/2014/main" id="{45565719-1E8B-918A-6FDF-5321546A924E}"/>
                  </a:ext>
                </a:extLst>
              </p:cNvPr>
              <p:cNvSpPr/>
              <p:nvPr/>
            </p:nvSpPr>
            <p:spPr>
              <a:xfrm>
                <a:off x="5261342" y="5333242"/>
                <a:ext cx="105155" cy="105155"/>
              </a:xfrm>
              <a:custGeom>
                <a:avLst/>
                <a:gdLst>
                  <a:gd name="connsiteX0" fmla="*/ 105156 w 105155"/>
                  <a:gd name="connsiteY0" fmla="*/ 52578 h 105155"/>
                  <a:gd name="connsiteX1" fmla="*/ 52578 w 105155"/>
                  <a:gd name="connsiteY1" fmla="*/ 105156 h 105155"/>
                  <a:gd name="connsiteX2" fmla="*/ 0 w 105155"/>
                  <a:gd name="connsiteY2" fmla="*/ 52578 h 105155"/>
                  <a:gd name="connsiteX3" fmla="*/ 52578 w 105155"/>
                  <a:gd name="connsiteY3" fmla="*/ 0 h 105155"/>
                  <a:gd name="connsiteX4" fmla="*/ 105156 w 105155"/>
                  <a:gd name="connsiteY4" fmla="*/ 52578 h 105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155" h="105155">
                    <a:moveTo>
                      <a:pt x="105156" y="52578"/>
                    </a:moveTo>
                    <a:cubicBezTo>
                      <a:pt x="105156" y="81616"/>
                      <a:pt x="81616" y="105156"/>
                      <a:pt x="52578" y="105156"/>
                    </a:cubicBezTo>
                    <a:cubicBezTo>
                      <a:pt x="23540" y="105156"/>
                      <a:pt x="0" y="81616"/>
                      <a:pt x="0" y="52578"/>
                    </a:cubicBezTo>
                    <a:cubicBezTo>
                      <a:pt x="0" y="23540"/>
                      <a:pt x="23540" y="0"/>
                      <a:pt x="52578" y="0"/>
                    </a:cubicBezTo>
                    <a:cubicBezTo>
                      <a:pt x="81616" y="0"/>
                      <a:pt x="105156" y="23540"/>
                      <a:pt x="105156" y="525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3938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13" name="Szabadkézi sokszög: alakzat 112">
                <a:extLst>
                  <a:ext uri="{FF2B5EF4-FFF2-40B4-BE49-F238E27FC236}">
                    <a16:creationId xmlns:a16="http://schemas.microsoft.com/office/drawing/2014/main" id="{802B3E6D-E11A-44C3-B77C-57B8C879F3CB}"/>
                  </a:ext>
                </a:extLst>
              </p:cNvPr>
              <p:cNvSpPr/>
              <p:nvPr/>
            </p:nvSpPr>
            <p:spPr>
              <a:xfrm>
                <a:off x="5313920" y="5385820"/>
                <a:ext cx="12170" cy="436227"/>
              </a:xfrm>
              <a:custGeom>
                <a:avLst/>
                <a:gdLst>
                  <a:gd name="connsiteX0" fmla="*/ 0 w 12170"/>
                  <a:gd name="connsiteY0" fmla="*/ 0 h 436227"/>
                  <a:gd name="connsiteX1" fmla="*/ 0 w 12170"/>
                  <a:gd name="connsiteY1" fmla="*/ 436227 h 436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70" h="436227">
                    <a:moveTo>
                      <a:pt x="0" y="0"/>
                    </a:moveTo>
                    <a:lnTo>
                      <a:pt x="0" y="436227"/>
                    </a:lnTo>
                  </a:path>
                </a:pathLst>
              </a:custGeom>
              <a:noFill/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14" name="Szabadkézi sokszög: alakzat 113">
                <a:extLst>
                  <a:ext uri="{FF2B5EF4-FFF2-40B4-BE49-F238E27FC236}">
                    <a16:creationId xmlns:a16="http://schemas.microsoft.com/office/drawing/2014/main" id="{3EDC9456-0013-4657-DDCC-51B9E6AE91BD}"/>
                  </a:ext>
                </a:extLst>
              </p:cNvPr>
              <p:cNvSpPr/>
              <p:nvPr/>
            </p:nvSpPr>
            <p:spPr>
              <a:xfrm>
                <a:off x="5287631" y="5795758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15" name="Szabadkézi sokszög: alakzat 114">
                <a:extLst>
                  <a:ext uri="{FF2B5EF4-FFF2-40B4-BE49-F238E27FC236}">
                    <a16:creationId xmlns:a16="http://schemas.microsoft.com/office/drawing/2014/main" id="{00A61905-BC3D-71B5-BC5A-35F4D0CDCB07}"/>
                  </a:ext>
                </a:extLst>
              </p:cNvPr>
              <p:cNvSpPr/>
              <p:nvPr/>
            </p:nvSpPr>
            <p:spPr>
              <a:xfrm>
                <a:off x="5287631" y="5918440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16" name="Szabadkézi sokszög: alakzat 115">
                <a:extLst>
                  <a:ext uri="{FF2B5EF4-FFF2-40B4-BE49-F238E27FC236}">
                    <a16:creationId xmlns:a16="http://schemas.microsoft.com/office/drawing/2014/main" id="{154398C6-0386-8E53-886A-01FD362D54FD}"/>
                  </a:ext>
                </a:extLst>
              </p:cNvPr>
              <p:cNvSpPr/>
              <p:nvPr/>
            </p:nvSpPr>
            <p:spPr>
              <a:xfrm>
                <a:off x="5287631" y="6041122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25EE37C-48C3-37EC-9B6B-77A73366FD76}"/>
                </a:ext>
              </a:extLst>
            </p:cNvPr>
            <p:cNvGrpSpPr/>
            <p:nvPr/>
          </p:nvGrpSpPr>
          <p:grpSpPr>
            <a:xfrm>
              <a:off x="6312903" y="5333242"/>
              <a:ext cx="105155" cy="760457"/>
              <a:chOff x="6312902" y="5333242"/>
              <a:chExt cx="105155" cy="760457"/>
            </a:xfrm>
          </p:grpSpPr>
          <p:sp>
            <p:nvSpPr>
              <p:cNvPr id="105" name="Szabadkézi sokszög: alakzat 104">
                <a:extLst>
                  <a:ext uri="{FF2B5EF4-FFF2-40B4-BE49-F238E27FC236}">
                    <a16:creationId xmlns:a16="http://schemas.microsoft.com/office/drawing/2014/main" id="{A99F0082-4204-E286-E4DA-FA71AA01EE9A}"/>
                  </a:ext>
                </a:extLst>
              </p:cNvPr>
              <p:cNvSpPr/>
              <p:nvPr/>
            </p:nvSpPr>
            <p:spPr>
              <a:xfrm>
                <a:off x="6312902" y="5333242"/>
                <a:ext cx="105155" cy="105155"/>
              </a:xfrm>
              <a:custGeom>
                <a:avLst/>
                <a:gdLst>
                  <a:gd name="connsiteX0" fmla="*/ 105156 w 105155"/>
                  <a:gd name="connsiteY0" fmla="*/ 52578 h 105155"/>
                  <a:gd name="connsiteX1" fmla="*/ 52578 w 105155"/>
                  <a:gd name="connsiteY1" fmla="*/ 105156 h 105155"/>
                  <a:gd name="connsiteX2" fmla="*/ 0 w 105155"/>
                  <a:gd name="connsiteY2" fmla="*/ 52578 h 105155"/>
                  <a:gd name="connsiteX3" fmla="*/ 52578 w 105155"/>
                  <a:gd name="connsiteY3" fmla="*/ 0 h 105155"/>
                  <a:gd name="connsiteX4" fmla="*/ 105156 w 105155"/>
                  <a:gd name="connsiteY4" fmla="*/ 52578 h 105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155" h="105155">
                    <a:moveTo>
                      <a:pt x="105156" y="52578"/>
                    </a:moveTo>
                    <a:cubicBezTo>
                      <a:pt x="105156" y="81616"/>
                      <a:pt x="81616" y="105156"/>
                      <a:pt x="52578" y="105156"/>
                    </a:cubicBezTo>
                    <a:cubicBezTo>
                      <a:pt x="23540" y="105156"/>
                      <a:pt x="0" y="81616"/>
                      <a:pt x="0" y="52578"/>
                    </a:cubicBezTo>
                    <a:cubicBezTo>
                      <a:pt x="0" y="23540"/>
                      <a:pt x="23540" y="0"/>
                      <a:pt x="52578" y="0"/>
                    </a:cubicBezTo>
                    <a:cubicBezTo>
                      <a:pt x="81616" y="0"/>
                      <a:pt x="105156" y="23540"/>
                      <a:pt x="105156" y="525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3938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17" name="Szabadkézi sokszög: alakzat 116">
                <a:extLst>
                  <a:ext uri="{FF2B5EF4-FFF2-40B4-BE49-F238E27FC236}">
                    <a16:creationId xmlns:a16="http://schemas.microsoft.com/office/drawing/2014/main" id="{30978723-03B6-B73A-1EE6-C71667ECF92E}"/>
                  </a:ext>
                </a:extLst>
              </p:cNvPr>
              <p:cNvSpPr/>
              <p:nvPr/>
            </p:nvSpPr>
            <p:spPr>
              <a:xfrm>
                <a:off x="6365480" y="5385820"/>
                <a:ext cx="12170" cy="436227"/>
              </a:xfrm>
              <a:custGeom>
                <a:avLst/>
                <a:gdLst>
                  <a:gd name="connsiteX0" fmla="*/ 0 w 12170"/>
                  <a:gd name="connsiteY0" fmla="*/ 0 h 436227"/>
                  <a:gd name="connsiteX1" fmla="*/ 0 w 12170"/>
                  <a:gd name="connsiteY1" fmla="*/ 436227 h 436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70" h="436227">
                    <a:moveTo>
                      <a:pt x="0" y="0"/>
                    </a:moveTo>
                    <a:lnTo>
                      <a:pt x="0" y="436227"/>
                    </a:lnTo>
                  </a:path>
                </a:pathLst>
              </a:custGeom>
              <a:noFill/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18" name="Szabadkézi sokszög: alakzat 117">
                <a:extLst>
                  <a:ext uri="{FF2B5EF4-FFF2-40B4-BE49-F238E27FC236}">
                    <a16:creationId xmlns:a16="http://schemas.microsoft.com/office/drawing/2014/main" id="{66512880-83E2-F351-BC8B-86DF87C7C1A0}"/>
                  </a:ext>
                </a:extLst>
              </p:cNvPr>
              <p:cNvSpPr/>
              <p:nvPr/>
            </p:nvSpPr>
            <p:spPr>
              <a:xfrm>
                <a:off x="6339191" y="5795758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19" name="Szabadkézi sokszög: alakzat 118">
                <a:extLst>
                  <a:ext uri="{FF2B5EF4-FFF2-40B4-BE49-F238E27FC236}">
                    <a16:creationId xmlns:a16="http://schemas.microsoft.com/office/drawing/2014/main" id="{BC3A4992-B764-D980-A4A1-9A7F0C41F8D4}"/>
                  </a:ext>
                </a:extLst>
              </p:cNvPr>
              <p:cNvSpPr/>
              <p:nvPr/>
            </p:nvSpPr>
            <p:spPr>
              <a:xfrm>
                <a:off x="6339191" y="5918440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20" name="Szabadkézi sokszög: alakzat 119">
                <a:extLst>
                  <a:ext uri="{FF2B5EF4-FFF2-40B4-BE49-F238E27FC236}">
                    <a16:creationId xmlns:a16="http://schemas.microsoft.com/office/drawing/2014/main" id="{D283C397-03DE-D7A9-CD1E-2B4647C32556}"/>
                  </a:ext>
                </a:extLst>
              </p:cNvPr>
              <p:cNvSpPr/>
              <p:nvPr/>
            </p:nvSpPr>
            <p:spPr>
              <a:xfrm>
                <a:off x="6339191" y="6041122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0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0" y="40808"/>
                      <a:pt x="0" y="26289"/>
                    </a:cubicBezTo>
                    <a:cubicBezTo>
                      <a:pt x="0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4075CCD-F96C-5058-9377-6A46B44E80B6}"/>
                </a:ext>
              </a:extLst>
            </p:cNvPr>
            <p:cNvGrpSpPr/>
            <p:nvPr/>
          </p:nvGrpSpPr>
          <p:grpSpPr>
            <a:xfrm>
              <a:off x="7364462" y="5333242"/>
              <a:ext cx="105155" cy="760457"/>
              <a:chOff x="7364461" y="5333242"/>
              <a:chExt cx="105155" cy="760457"/>
            </a:xfrm>
          </p:grpSpPr>
          <p:sp>
            <p:nvSpPr>
              <p:cNvPr id="106" name="Szabadkézi sokszög: alakzat 105">
                <a:extLst>
                  <a:ext uri="{FF2B5EF4-FFF2-40B4-BE49-F238E27FC236}">
                    <a16:creationId xmlns:a16="http://schemas.microsoft.com/office/drawing/2014/main" id="{974EC14F-1EE9-2922-A621-90DD39C6E80B}"/>
                  </a:ext>
                </a:extLst>
              </p:cNvPr>
              <p:cNvSpPr/>
              <p:nvPr/>
            </p:nvSpPr>
            <p:spPr>
              <a:xfrm>
                <a:off x="7364461" y="5333242"/>
                <a:ext cx="105155" cy="105155"/>
              </a:xfrm>
              <a:custGeom>
                <a:avLst/>
                <a:gdLst>
                  <a:gd name="connsiteX0" fmla="*/ 105156 w 105155"/>
                  <a:gd name="connsiteY0" fmla="*/ 52578 h 105155"/>
                  <a:gd name="connsiteX1" fmla="*/ 52578 w 105155"/>
                  <a:gd name="connsiteY1" fmla="*/ 105156 h 105155"/>
                  <a:gd name="connsiteX2" fmla="*/ 0 w 105155"/>
                  <a:gd name="connsiteY2" fmla="*/ 52578 h 105155"/>
                  <a:gd name="connsiteX3" fmla="*/ 52578 w 105155"/>
                  <a:gd name="connsiteY3" fmla="*/ 0 h 105155"/>
                  <a:gd name="connsiteX4" fmla="*/ 105156 w 105155"/>
                  <a:gd name="connsiteY4" fmla="*/ 52578 h 105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155" h="105155">
                    <a:moveTo>
                      <a:pt x="105156" y="52578"/>
                    </a:moveTo>
                    <a:cubicBezTo>
                      <a:pt x="105156" y="81616"/>
                      <a:pt x="81616" y="105156"/>
                      <a:pt x="52578" y="105156"/>
                    </a:cubicBezTo>
                    <a:cubicBezTo>
                      <a:pt x="23540" y="105156"/>
                      <a:pt x="0" y="81616"/>
                      <a:pt x="0" y="52578"/>
                    </a:cubicBezTo>
                    <a:cubicBezTo>
                      <a:pt x="0" y="23540"/>
                      <a:pt x="23540" y="0"/>
                      <a:pt x="52578" y="0"/>
                    </a:cubicBezTo>
                    <a:cubicBezTo>
                      <a:pt x="81616" y="0"/>
                      <a:pt x="105156" y="23540"/>
                      <a:pt x="105156" y="525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3938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21" name="Szabadkézi sokszög: alakzat 120">
                <a:extLst>
                  <a:ext uri="{FF2B5EF4-FFF2-40B4-BE49-F238E27FC236}">
                    <a16:creationId xmlns:a16="http://schemas.microsoft.com/office/drawing/2014/main" id="{C7DA19F6-A074-81FD-F2FD-5A7BAE54A9EB}"/>
                  </a:ext>
                </a:extLst>
              </p:cNvPr>
              <p:cNvSpPr/>
              <p:nvPr/>
            </p:nvSpPr>
            <p:spPr>
              <a:xfrm>
                <a:off x="7417039" y="5385820"/>
                <a:ext cx="12170" cy="436227"/>
              </a:xfrm>
              <a:custGeom>
                <a:avLst/>
                <a:gdLst>
                  <a:gd name="connsiteX0" fmla="*/ 0 w 12170"/>
                  <a:gd name="connsiteY0" fmla="*/ 0 h 436227"/>
                  <a:gd name="connsiteX1" fmla="*/ 0 w 12170"/>
                  <a:gd name="connsiteY1" fmla="*/ 436227 h 436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70" h="436227">
                    <a:moveTo>
                      <a:pt x="0" y="0"/>
                    </a:moveTo>
                    <a:lnTo>
                      <a:pt x="0" y="436227"/>
                    </a:lnTo>
                  </a:path>
                </a:pathLst>
              </a:custGeom>
              <a:noFill/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22" name="Szabadkézi sokszög: alakzat 121">
                <a:extLst>
                  <a:ext uri="{FF2B5EF4-FFF2-40B4-BE49-F238E27FC236}">
                    <a16:creationId xmlns:a16="http://schemas.microsoft.com/office/drawing/2014/main" id="{1AE996B7-809C-7C5A-8C62-9D322777EF7F}"/>
                  </a:ext>
                </a:extLst>
              </p:cNvPr>
              <p:cNvSpPr/>
              <p:nvPr/>
            </p:nvSpPr>
            <p:spPr>
              <a:xfrm>
                <a:off x="7390750" y="5795758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1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1" y="40808"/>
                      <a:pt x="1" y="26289"/>
                    </a:cubicBezTo>
                    <a:cubicBezTo>
                      <a:pt x="1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23" name="Szabadkézi sokszög: alakzat 122">
                <a:extLst>
                  <a:ext uri="{FF2B5EF4-FFF2-40B4-BE49-F238E27FC236}">
                    <a16:creationId xmlns:a16="http://schemas.microsoft.com/office/drawing/2014/main" id="{E7A28C14-5D3F-CC3D-3800-CE03AB133945}"/>
                  </a:ext>
                </a:extLst>
              </p:cNvPr>
              <p:cNvSpPr/>
              <p:nvPr/>
            </p:nvSpPr>
            <p:spPr>
              <a:xfrm>
                <a:off x="7390750" y="5918440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1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1" y="40808"/>
                      <a:pt x="1" y="26289"/>
                    </a:cubicBezTo>
                    <a:cubicBezTo>
                      <a:pt x="1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  <p:sp>
            <p:nvSpPr>
              <p:cNvPr id="124" name="Szabadkézi sokszög: alakzat 123">
                <a:extLst>
                  <a:ext uri="{FF2B5EF4-FFF2-40B4-BE49-F238E27FC236}">
                    <a16:creationId xmlns:a16="http://schemas.microsoft.com/office/drawing/2014/main" id="{B3ADB2B2-A590-F867-996B-6A168C6ABF17}"/>
                  </a:ext>
                </a:extLst>
              </p:cNvPr>
              <p:cNvSpPr/>
              <p:nvPr/>
            </p:nvSpPr>
            <p:spPr>
              <a:xfrm>
                <a:off x="7390750" y="6041122"/>
                <a:ext cx="52577" cy="52577"/>
              </a:xfrm>
              <a:custGeom>
                <a:avLst/>
                <a:gdLst>
                  <a:gd name="connsiteX0" fmla="*/ 52578 w 52577"/>
                  <a:gd name="connsiteY0" fmla="*/ 26289 h 52577"/>
                  <a:gd name="connsiteX1" fmla="*/ 26289 w 52577"/>
                  <a:gd name="connsiteY1" fmla="*/ 52578 h 52577"/>
                  <a:gd name="connsiteX2" fmla="*/ 1 w 52577"/>
                  <a:gd name="connsiteY2" fmla="*/ 26289 h 52577"/>
                  <a:gd name="connsiteX3" fmla="*/ 26289 w 52577"/>
                  <a:gd name="connsiteY3" fmla="*/ 0 h 52577"/>
                  <a:gd name="connsiteX4" fmla="*/ 52578 w 52577"/>
                  <a:gd name="connsiteY4" fmla="*/ 26289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577" h="52577">
                    <a:moveTo>
                      <a:pt x="52578" y="26289"/>
                    </a:moveTo>
                    <a:cubicBezTo>
                      <a:pt x="52578" y="40808"/>
                      <a:pt x="40808" y="52578"/>
                      <a:pt x="26289" y="52578"/>
                    </a:cubicBezTo>
                    <a:cubicBezTo>
                      <a:pt x="11770" y="52578"/>
                      <a:pt x="1" y="40808"/>
                      <a:pt x="1" y="26289"/>
                    </a:cubicBezTo>
                    <a:cubicBezTo>
                      <a:pt x="1" y="11770"/>
                      <a:pt x="11770" y="0"/>
                      <a:pt x="26289" y="0"/>
                    </a:cubicBezTo>
                    <a:cubicBezTo>
                      <a:pt x="40808" y="0"/>
                      <a:pt x="52578" y="11770"/>
                      <a:pt x="52578" y="262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62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hu-HU" noProof="0" dirty="0"/>
              </a:p>
            </p:txBody>
          </p:sp>
        </p:grpSp>
      </p:grp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65AD1F36-14D6-7DCE-93AD-6027D9E9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C169-EA8F-476E-BE92-366835C25817}" type="datetime1">
              <a:rPr lang="hu-HU" smtClean="0"/>
              <a:t>2025-05-22</a:t>
            </a:fld>
            <a:endParaRPr lang="en-GB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B80CCDE-059B-9590-8E1C-660A4E76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22E6B85-7EFB-CBFC-4137-CE6A6046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864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A56E-D26D-EF4B-37B7-50B9E8D93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33">
            <a:extLst>
              <a:ext uri="{FF2B5EF4-FFF2-40B4-BE49-F238E27FC236}">
                <a16:creationId xmlns:a16="http://schemas.microsoft.com/office/drawing/2014/main" id="{F4D15840-938C-35E4-A00E-A8BEF156D938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ím 1">
            <a:extLst>
              <a:ext uri="{FF2B5EF4-FFF2-40B4-BE49-F238E27FC236}">
                <a16:creationId xmlns:a16="http://schemas.microsoft.com/office/drawing/2014/main" id="{8418F77E-1450-84E2-25A5-95F6FF18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LLVM IR: Lustaság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30BCA24-1272-4B0A-FDE1-FC1549F25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C4 lusta (</a:t>
            </a:r>
            <a:r>
              <a:rPr lang="hu-HU" noProof="0" dirty="0" err="1"/>
              <a:t>lazy</a:t>
            </a:r>
            <a:r>
              <a:rPr lang="hu-HU" noProof="0" dirty="0"/>
              <a:t>)</a:t>
            </a:r>
          </a:p>
          <a:p>
            <a:r>
              <a:rPr lang="hu-HU" noProof="0" dirty="0"/>
              <a:t>LLVM IR szorgos (</a:t>
            </a:r>
            <a:r>
              <a:rPr lang="hu-HU" noProof="0" dirty="0" err="1"/>
              <a:t>eager</a:t>
            </a:r>
            <a:r>
              <a:rPr lang="hu-HU" noProof="0" dirty="0"/>
              <a:t>)</a:t>
            </a:r>
          </a:p>
          <a:p>
            <a:endParaRPr lang="hu-HU" noProof="0" dirty="0"/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3644A79A-E7CF-B7F9-F0E5-FA2DE38DC7CF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5" name="Oval 41">
              <a:extLst>
                <a:ext uri="{FF2B5EF4-FFF2-40B4-BE49-F238E27FC236}">
                  <a16:creationId xmlns:a16="http://schemas.microsoft.com/office/drawing/2014/main" id="{672FD120-616C-142B-4BDD-6642A3AF8FF8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6" name="Oval 41">
              <a:extLst>
                <a:ext uri="{FF2B5EF4-FFF2-40B4-BE49-F238E27FC236}">
                  <a16:creationId xmlns:a16="http://schemas.microsoft.com/office/drawing/2014/main" id="{2991A03B-F44C-9E11-E157-188EB62C27AB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7" name="Oval 41">
              <a:extLst>
                <a:ext uri="{FF2B5EF4-FFF2-40B4-BE49-F238E27FC236}">
                  <a16:creationId xmlns:a16="http://schemas.microsoft.com/office/drawing/2014/main" id="{02C87235-FD83-6D34-5A41-C85E05468657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E5D8EB92-E818-F95C-6C23-A8E93A487EBC}"/>
              </a:ext>
            </a:extLst>
          </p:cNvPr>
          <p:cNvGrpSpPr/>
          <p:nvPr/>
        </p:nvGrpSpPr>
        <p:grpSpPr>
          <a:xfrm>
            <a:off x="112232" y="-1195627"/>
            <a:ext cx="230668" cy="230668"/>
            <a:chOff x="112232" y="7465773"/>
            <a:chExt cx="230668" cy="230668"/>
          </a:xfrm>
        </p:grpSpPr>
        <p:sp>
          <p:nvSpPr>
            <p:cNvPr id="10" name="Oval 42">
              <a:extLst>
                <a:ext uri="{FF2B5EF4-FFF2-40B4-BE49-F238E27FC236}">
                  <a16:creationId xmlns:a16="http://schemas.microsoft.com/office/drawing/2014/main" id="{FE1EABFE-D1CB-B719-363D-A370F5837770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1" name="Oval 42">
              <a:extLst>
                <a:ext uri="{FF2B5EF4-FFF2-40B4-BE49-F238E27FC236}">
                  <a16:creationId xmlns:a16="http://schemas.microsoft.com/office/drawing/2014/main" id="{206F392A-7BF5-4F87-522C-761F7A46FE96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2" name="Oval 42">
              <a:extLst>
                <a:ext uri="{FF2B5EF4-FFF2-40B4-BE49-F238E27FC236}">
                  <a16:creationId xmlns:a16="http://schemas.microsoft.com/office/drawing/2014/main" id="{9B269D7F-31B9-2B49-30E9-AB027A4063B4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3" name="Oval 42">
              <a:extLst>
                <a:ext uri="{FF2B5EF4-FFF2-40B4-BE49-F238E27FC236}">
                  <a16:creationId xmlns:a16="http://schemas.microsoft.com/office/drawing/2014/main" id="{DFA7DC19-4924-79BB-46EF-086F171324A2}"/>
                </a:ext>
              </a:extLst>
            </p:cNvPr>
            <p:cNvSpPr/>
            <p:nvPr/>
          </p:nvSpPr>
          <p:spPr>
            <a:xfrm>
              <a:off x="112232" y="74657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sp>
        <p:nvSpPr>
          <p:cNvPr id="74" name="Szabadkézi sokszög: alakzat 73">
            <a:extLst>
              <a:ext uri="{FF2B5EF4-FFF2-40B4-BE49-F238E27FC236}">
                <a16:creationId xmlns:a16="http://schemas.microsoft.com/office/drawing/2014/main" id="{F1D7CD62-E15B-74B2-A2C0-219AB0367DC8}"/>
              </a:ext>
            </a:extLst>
          </p:cNvPr>
          <p:cNvSpPr/>
          <p:nvPr/>
        </p:nvSpPr>
        <p:spPr>
          <a:xfrm>
            <a:off x="2129580" y="4020184"/>
            <a:ext cx="1314449" cy="876299"/>
          </a:xfrm>
          <a:custGeom>
            <a:avLst/>
            <a:gdLst>
              <a:gd name="connsiteX0" fmla="*/ 0 w 1314449"/>
              <a:gd name="connsiteY0" fmla="*/ 876300 h 876299"/>
              <a:gd name="connsiteX1" fmla="*/ 1314450 w 1314449"/>
              <a:gd name="connsiteY1" fmla="*/ 876300 h 876299"/>
              <a:gd name="connsiteX2" fmla="*/ 1314450 w 1314449"/>
              <a:gd name="connsiteY2" fmla="*/ 0 h 876299"/>
              <a:gd name="connsiteX3" fmla="*/ 0 w 1314449"/>
              <a:gd name="connsiteY3" fmla="*/ 0 h 87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49" h="876299">
                <a:moveTo>
                  <a:pt x="0" y="876300"/>
                </a:moveTo>
                <a:lnTo>
                  <a:pt x="1314450" y="876300"/>
                </a:lnTo>
                <a:lnTo>
                  <a:pt x="1314450" y="0"/>
                </a:lnTo>
                <a:lnTo>
                  <a:pt x="0" y="0"/>
                </a:lnTo>
                <a:close/>
              </a:path>
            </a:pathLst>
          </a:custGeom>
          <a:noFill/>
          <a:ln w="2625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75" name="Szövegdoboz 74">
            <a:extLst>
              <a:ext uri="{FF2B5EF4-FFF2-40B4-BE49-F238E27FC236}">
                <a16:creationId xmlns:a16="http://schemas.microsoft.com/office/drawing/2014/main" id="{F158134C-BA74-AF3E-A2DE-C1D5C7A6572C}"/>
              </a:ext>
            </a:extLst>
          </p:cNvPr>
          <p:cNvSpPr txBox="1"/>
          <p:nvPr/>
        </p:nvSpPr>
        <p:spPr>
          <a:xfrm>
            <a:off x="1663745" y="3215313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noProof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Kiértékelt</a:t>
            </a:r>
            <a:endParaRPr lang="hu-HU" sz="1400" spc="0" baseline="0" noProof="0" dirty="0">
              <a:ln/>
              <a:solidFill>
                <a:srgbClr val="000000"/>
              </a:solidFill>
              <a:cs typeface="Arial"/>
              <a:sym typeface="Arial"/>
              <a:rtl val="0"/>
            </a:endParaRPr>
          </a:p>
        </p:txBody>
      </p:sp>
      <p:sp>
        <p:nvSpPr>
          <p:cNvPr id="76" name="Szövegdoboz 75">
            <a:extLst>
              <a:ext uri="{FF2B5EF4-FFF2-40B4-BE49-F238E27FC236}">
                <a16:creationId xmlns:a16="http://schemas.microsoft.com/office/drawing/2014/main" id="{A4F530A3-4CC4-A7AE-1E84-EFDA81B084C9}"/>
              </a:ext>
            </a:extLst>
          </p:cNvPr>
          <p:cNvSpPr txBox="1"/>
          <p:nvPr/>
        </p:nvSpPr>
        <p:spPr>
          <a:xfrm>
            <a:off x="1209293" y="3460677"/>
            <a:ext cx="18405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1400" spc="0" baseline="0" noProof="0" dirty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Függvény paraméter</a:t>
            </a:r>
          </a:p>
        </p:txBody>
      </p:sp>
      <p:grpSp>
        <p:nvGrpSpPr>
          <p:cNvPr id="125" name="Csoportba foglalás 124">
            <a:extLst>
              <a:ext uri="{FF2B5EF4-FFF2-40B4-BE49-F238E27FC236}">
                <a16:creationId xmlns:a16="http://schemas.microsoft.com/office/drawing/2014/main" id="{0F4AEAFD-1884-69C5-F6DA-D50014E9CEE7}"/>
              </a:ext>
            </a:extLst>
          </p:cNvPr>
          <p:cNvGrpSpPr/>
          <p:nvPr/>
        </p:nvGrpSpPr>
        <p:grpSpPr>
          <a:xfrm>
            <a:off x="815125" y="3732514"/>
            <a:ext cx="2628905" cy="282907"/>
            <a:chOff x="815125" y="3732514"/>
            <a:chExt cx="2628905" cy="282907"/>
          </a:xfrm>
        </p:grpSpPr>
        <p:sp>
          <p:nvSpPr>
            <p:cNvPr id="77" name="Szabadkézi sokszög: alakzat 76">
              <a:extLst>
                <a:ext uri="{FF2B5EF4-FFF2-40B4-BE49-F238E27FC236}">
                  <a16:creationId xmlns:a16="http://schemas.microsoft.com/office/drawing/2014/main" id="{9E5FA902-5BBE-0AFB-7F29-C80F8FBA349C}"/>
                </a:ext>
              </a:extLst>
            </p:cNvPr>
            <p:cNvSpPr/>
            <p:nvPr/>
          </p:nvSpPr>
          <p:spPr>
            <a:xfrm>
              <a:off x="815125" y="3732514"/>
              <a:ext cx="1317448" cy="282907"/>
            </a:xfrm>
            <a:custGeom>
              <a:avLst/>
              <a:gdLst>
                <a:gd name="connsiteX0" fmla="*/ 0 w 1317448"/>
                <a:gd name="connsiteY0" fmla="*/ 282907 h 282907"/>
                <a:gd name="connsiteX1" fmla="*/ 0 w 1317448"/>
                <a:gd name="connsiteY1" fmla="*/ 265381 h 282907"/>
                <a:gd name="connsiteX2" fmla="*/ 61964 w 1317448"/>
                <a:gd name="connsiteY2" fmla="*/ 185891 h 282907"/>
                <a:gd name="connsiteX3" fmla="*/ 658724 w 1317448"/>
                <a:gd name="connsiteY3" fmla="*/ 123928 h 282907"/>
                <a:gd name="connsiteX4" fmla="*/ 1255487 w 1317448"/>
                <a:gd name="connsiteY4" fmla="*/ 61964 h 282907"/>
                <a:gd name="connsiteX5" fmla="*/ 1317449 w 1317448"/>
                <a:gd name="connsiteY5" fmla="*/ 0 h 28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448" h="282907">
                  <a:moveTo>
                    <a:pt x="0" y="282907"/>
                  </a:moveTo>
                  <a:lnTo>
                    <a:pt x="0" y="265381"/>
                  </a:lnTo>
                  <a:cubicBezTo>
                    <a:pt x="0" y="253697"/>
                    <a:pt x="20655" y="227200"/>
                    <a:pt x="61964" y="185891"/>
                  </a:cubicBezTo>
                  <a:cubicBezTo>
                    <a:pt x="103273" y="144582"/>
                    <a:pt x="302193" y="123928"/>
                    <a:pt x="658724" y="123928"/>
                  </a:cubicBezTo>
                  <a:cubicBezTo>
                    <a:pt x="1015258" y="123928"/>
                    <a:pt x="1214179" y="103273"/>
                    <a:pt x="1255487" y="61964"/>
                  </a:cubicBezTo>
                  <a:lnTo>
                    <a:pt x="1317449" y="0"/>
                  </a:lnTo>
                </a:path>
              </a:pathLst>
            </a:custGeom>
            <a:noFill/>
            <a:ln w="17592" cap="flat">
              <a:solidFill>
                <a:srgbClr val="80808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hu-HU" noProof="0" dirty="0"/>
            </a:p>
          </p:txBody>
        </p:sp>
        <p:sp>
          <p:nvSpPr>
            <p:cNvPr id="78" name="Szabadkézi sokszög: alakzat 77">
              <a:extLst>
                <a:ext uri="{FF2B5EF4-FFF2-40B4-BE49-F238E27FC236}">
                  <a16:creationId xmlns:a16="http://schemas.microsoft.com/office/drawing/2014/main" id="{5FB845A6-C9EF-7DD7-4EB0-7968573DB5B8}"/>
                </a:ext>
              </a:extLst>
            </p:cNvPr>
            <p:cNvSpPr/>
            <p:nvPr/>
          </p:nvSpPr>
          <p:spPr>
            <a:xfrm>
              <a:off x="2126574" y="3732514"/>
              <a:ext cx="1317456" cy="282907"/>
            </a:xfrm>
            <a:custGeom>
              <a:avLst/>
              <a:gdLst>
                <a:gd name="connsiteX0" fmla="*/ 1317456 w 1317456"/>
                <a:gd name="connsiteY0" fmla="*/ 282907 h 282907"/>
                <a:gd name="connsiteX1" fmla="*/ 1317456 w 1317456"/>
                <a:gd name="connsiteY1" fmla="*/ 265381 h 282907"/>
                <a:gd name="connsiteX2" fmla="*/ 1255482 w 1317456"/>
                <a:gd name="connsiteY2" fmla="*/ 185891 h 282907"/>
                <a:gd name="connsiteX3" fmla="*/ 658722 w 1317456"/>
                <a:gd name="connsiteY3" fmla="*/ 123928 h 282907"/>
                <a:gd name="connsiteX4" fmla="*/ 61962 w 1317456"/>
                <a:gd name="connsiteY4" fmla="*/ 61964 h 282907"/>
                <a:gd name="connsiteX5" fmla="*/ 0 w 1317456"/>
                <a:gd name="connsiteY5" fmla="*/ 0 h 28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456" h="282907">
                  <a:moveTo>
                    <a:pt x="1317456" y="282907"/>
                  </a:moveTo>
                  <a:lnTo>
                    <a:pt x="1317456" y="265381"/>
                  </a:lnTo>
                  <a:cubicBezTo>
                    <a:pt x="1317456" y="253697"/>
                    <a:pt x="1296802" y="227200"/>
                    <a:pt x="1255482" y="185891"/>
                  </a:cubicBezTo>
                  <a:cubicBezTo>
                    <a:pt x="1214174" y="144582"/>
                    <a:pt x="1015254" y="123928"/>
                    <a:pt x="658722" y="123928"/>
                  </a:cubicBezTo>
                  <a:cubicBezTo>
                    <a:pt x="302202" y="123928"/>
                    <a:pt x="103282" y="103273"/>
                    <a:pt x="61962" y="61964"/>
                  </a:cubicBezTo>
                  <a:lnTo>
                    <a:pt x="0" y="0"/>
                  </a:lnTo>
                </a:path>
              </a:pathLst>
            </a:custGeom>
            <a:noFill/>
            <a:ln w="17592" cap="flat">
              <a:solidFill>
                <a:srgbClr val="80808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hu-HU" noProof="0" dirty="0"/>
            </a:p>
          </p:txBody>
        </p:sp>
      </p:grpSp>
      <p:sp>
        <p:nvSpPr>
          <p:cNvPr id="79" name="Szabadkézi sokszög: alakzat 78">
            <a:extLst>
              <a:ext uri="{FF2B5EF4-FFF2-40B4-BE49-F238E27FC236}">
                <a16:creationId xmlns:a16="http://schemas.microsoft.com/office/drawing/2014/main" id="{4930C5BE-9B98-E2F4-6C9A-A28B83AC0299}"/>
              </a:ext>
            </a:extLst>
          </p:cNvPr>
          <p:cNvSpPr/>
          <p:nvPr/>
        </p:nvSpPr>
        <p:spPr>
          <a:xfrm>
            <a:off x="1419775" y="4523675"/>
            <a:ext cx="105155" cy="105155"/>
          </a:xfrm>
          <a:custGeom>
            <a:avLst/>
            <a:gdLst>
              <a:gd name="connsiteX0" fmla="*/ 105156 w 105155"/>
              <a:gd name="connsiteY0" fmla="*/ 52578 h 105155"/>
              <a:gd name="connsiteX1" fmla="*/ 52578 w 105155"/>
              <a:gd name="connsiteY1" fmla="*/ 105156 h 105155"/>
              <a:gd name="connsiteX2" fmla="*/ 0 w 105155"/>
              <a:gd name="connsiteY2" fmla="*/ 52578 h 105155"/>
              <a:gd name="connsiteX3" fmla="*/ 52578 w 105155"/>
              <a:gd name="connsiteY3" fmla="*/ 0 h 105155"/>
              <a:gd name="connsiteX4" fmla="*/ 105156 w 105155"/>
              <a:gd name="connsiteY4" fmla="*/ 52578 h 1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155" h="105155">
                <a:moveTo>
                  <a:pt x="105156" y="52578"/>
                </a:moveTo>
                <a:cubicBezTo>
                  <a:pt x="105156" y="81616"/>
                  <a:pt x="81616" y="105156"/>
                  <a:pt x="52578" y="105156"/>
                </a:cubicBezTo>
                <a:cubicBezTo>
                  <a:pt x="23540" y="105156"/>
                  <a:pt x="0" y="81616"/>
                  <a:pt x="0" y="52578"/>
                </a:cubicBezTo>
                <a:cubicBezTo>
                  <a:pt x="0" y="23540"/>
                  <a:pt x="23540" y="0"/>
                  <a:pt x="52578" y="0"/>
                </a:cubicBezTo>
                <a:cubicBezTo>
                  <a:pt x="81616" y="0"/>
                  <a:pt x="105156" y="23540"/>
                  <a:pt x="105156" y="52578"/>
                </a:cubicBezTo>
                <a:close/>
              </a:path>
            </a:pathLst>
          </a:custGeom>
          <a:solidFill>
            <a:srgbClr val="000000"/>
          </a:solidFill>
          <a:ln w="3938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6432CE0F-86A6-B74A-AE9C-B235DD78CD7B}"/>
              </a:ext>
            </a:extLst>
          </p:cNvPr>
          <p:cNvSpPr txBox="1"/>
          <p:nvPr/>
        </p:nvSpPr>
        <p:spPr>
          <a:xfrm>
            <a:off x="1048198" y="4161717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1200" spc="0" baseline="0" noProof="0" dirty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Függvény</a:t>
            </a:r>
          </a:p>
        </p:txBody>
      </p:sp>
      <p:sp>
        <p:nvSpPr>
          <p:cNvPr id="82" name="Szövegdoboz 81">
            <a:extLst>
              <a:ext uri="{FF2B5EF4-FFF2-40B4-BE49-F238E27FC236}">
                <a16:creationId xmlns:a16="http://schemas.microsoft.com/office/drawing/2014/main" id="{603AC19F-9590-1771-F247-34B196F2C935}"/>
              </a:ext>
            </a:extLst>
          </p:cNvPr>
          <p:cNvSpPr txBox="1"/>
          <p:nvPr/>
        </p:nvSpPr>
        <p:spPr>
          <a:xfrm>
            <a:off x="2514935" y="4161717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200" noProof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Érték</a:t>
            </a:r>
            <a:endParaRPr lang="hu-HU" sz="1200" spc="0" baseline="0" noProof="0" dirty="0">
              <a:ln/>
              <a:solidFill>
                <a:srgbClr val="000000"/>
              </a:solidFill>
              <a:cs typeface="Arial"/>
              <a:sym typeface="Arial"/>
              <a:rtl val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D6967D1-55FF-DFD7-11A9-DB8E7655A920}"/>
              </a:ext>
            </a:extLst>
          </p:cNvPr>
          <p:cNvSpPr/>
          <p:nvPr/>
        </p:nvSpPr>
        <p:spPr>
          <a:xfrm>
            <a:off x="820480" y="4021486"/>
            <a:ext cx="1307781" cy="871854"/>
          </a:xfrm>
          <a:custGeom>
            <a:avLst/>
            <a:gdLst>
              <a:gd name="connsiteX0" fmla="*/ 0 w 1307781"/>
              <a:gd name="connsiteY0" fmla="*/ 871855 h 871854"/>
              <a:gd name="connsiteX1" fmla="*/ 1307782 w 1307781"/>
              <a:gd name="connsiteY1" fmla="*/ 871855 h 871854"/>
              <a:gd name="connsiteX2" fmla="*/ 1307782 w 1307781"/>
              <a:gd name="connsiteY2" fmla="*/ 0 h 871854"/>
              <a:gd name="connsiteX3" fmla="*/ 0 w 1307781"/>
              <a:gd name="connsiteY3" fmla="*/ 0 h 871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7781" h="871854">
                <a:moveTo>
                  <a:pt x="0" y="871855"/>
                </a:moveTo>
                <a:lnTo>
                  <a:pt x="1307782" y="871855"/>
                </a:lnTo>
                <a:lnTo>
                  <a:pt x="1307782" y="0"/>
                </a:lnTo>
                <a:lnTo>
                  <a:pt x="0" y="0"/>
                </a:lnTo>
                <a:close/>
              </a:path>
            </a:pathLst>
          </a:custGeom>
          <a:noFill/>
          <a:ln w="2609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1C6951-5CBD-F23F-CF09-F56B11FEDD81}"/>
              </a:ext>
            </a:extLst>
          </p:cNvPr>
          <p:cNvSpPr txBox="1"/>
          <p:nvPr/>
        </p:nvSpPr>
        <p:spPr>
          <a:xfrm>
            <a:off x="2346566" y="4412780"/>
            <a:ext cx="8804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hu-HU" sz="1100" spc="0" baseline="0" noProof="0" dirty="0">
                <a:ln/>
                <a:solidFill>
                  <a:srgbClr val="000000"/>
                </a:solidFill>
                <a:latin typeface="IBM Plex Mono" panose="020B0509050203000203" pitchFamily="49" charset="0"/>
                <a:cs typeface="Courier New"/>
                <a:sym typeface="Courier New"/>
                <a:rtl val="0"/>
              </a:rPr>
              <a:t>0x123987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C0FF6F6-28D8-0021-F3E1-329FD61292C2}"/>
              </a:ext>
            </a:extLst>
          </p:cNvPr>
          <p:cNvSpPr/>
          <p:nvPr/>
        </p:nvSpPr>
        <p:spPr>
          <a:xfrm>
            <a:off x="1474371" y="4579473"/>
            <a:ext cx="12109" cy="871854"/>
          </a:xfrm>
          <a:custGeom>
            <a:avLst/>
            <a:gdLst>
              <a:gd name="connsiteX0" fmla="*/ 0 w 12109"/>
              <a:gd name="connsiteY0" fmla="*/ 0 h 871854"/>
              <a:gd name="connsiteX1" fmla="*/ 0 w 12109"/>
              <a:gd name="connsiteY1" fmla="*/ 871855 h 871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09" h="871854">
                <a:moveTo>
                  <a:pt x="0" y="0"/>
                </a:moveTo>
                <a:lnTo>
                  <a:pt x="0" y="871855"/>
                </a:lnTo>
              </a:path>
            </a:pathLst>
          </a:custGeom>
          <a:noFill/>
          <a:ln w="2609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hu-HU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A40314-FA1E-8B5F-8B88-7AEFDD9629DB}"/>
              </a:ext>
            </a:extLst>
          </p:cNvPr>
          <p:cNvSpPr txBox="1"/>
          <p:nvPr/>
        </p:nvSpPr>
        <p:spPr>
          <a:xfrm>
            <a:off x="1228149" y="5467725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1000" spc="0" baseline="0" noProof="0" dirty="0">
                <a:ln/>
                <a:solidFill>
                  <a:srgbClr val="000000"/>
                </a:solidFill>
                <a:latin typeface="IBM Plex Mono" panose="020B0509050203000203" pitchFamily="49" charset="0"/>
                <a:cs typeface="Courier New"/>
                <a:sym typeface="Courier New"/>
                <a:rtl val="0"/>
              </a:rPr>
              <a:t>null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7A9DB77-DB3F-5664-E87E-C5947F05A7FE}"/>
              </a:ext>
            </a:extLst>
          </p:cNvPr>
          <p:cNvGrpSpPr/>
          <p:nvPr/>
        </p:nvGrpSpPr>
        <p:grpSpPr>
          <a:xfrm>
            <a:off x="1387186" y="5404247"/>
            <a:ext cx="174370" cy="141241"/>
            <a:chOff x="1387186" y="5404247"/>
            <a:chExt cx="174370" cy="141241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AD82263-5D6C-B068-16F0-C38275E826FF}"/>
                </a:ext>
              </a:extLst>
            </p:cNvPr>
            <p:cNvSpPr/>
            <p:nvPr/>
          </p:nvSpPr>
          <p:spPr>
            <a:xfrm>
              <a:off x="1387186" y="5404247"/>
              <a:ext cx="174370" cy="94160"/>
            </a:xfrm>
            <a:custGeom>
              <a:avLst/>
              <a:gdLst>
                <a:gd name="connsiteX0" fmla="*/ 0 w 174370"/>
                <a:gd name="connsiteY0" fmla="*/ 94160 h 94160"/>
                <a:gd name="connsiteX1" fmla="*/ 174371 w 174370"/>
                <a:gd name="connsiteY1" fmla="*/ 0 h 9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4370" h="94160">
                  <a:moveTo>
                    <a:pt x="0" y="94160"/>
                  </a:moveTo>
                  <a:lnTo>
                    <a:pt x="174371" y="0"/>
                  </a:lnTo>
                </a:path>
              </a:pathLst>
            </a:custGeom>
            <a:noFill/>
            <a:ln w="2609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hu-HU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A4D871E-6A6A-8646-A0EE-A1BBAD124F0F}"/>
                </a:ext>
              </a:extLst>
            </p:cNvPr>
            <p:cNvSpPr/>
            <p:nvPr/>
          </p:nvSpPr>
          <p:spPr>
            <a:xfrm>
              <a:off x="1387186" y="5451328"/>
              <a:ext cx="174370" cy="94160"/>
            </a:xfrm>
            <a:custGeom>
              <a:avLst/>
              <a:gdLst>
                <a:gd name="connsiteX0" fmla="*/ 0 w 174370"/>
                <a:gd name="connsiteY0" fmla="*/ 94160 h 94160"/>
                <a:gd name="connsiteX1" fmla="*/ 174371 w 174370"/>
                <a:gd name="connsiteY1" fmla="*/ 0 h 9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4370" h="94160">
                  <a:moveTo>
                    <a:pt x="0" y="94160"/>
                  </a:moveTo>
                  <a:lnTo>
                    <a:pt x="174371" y="0"/>
                  </a:lnTo>
                </a:path>
              </a:pathLst>
            </a:custGeom>
            <a:noFill/>
            <a:ln w="2609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hu-HU" noProof="0" dirty="0"/>
            </a:p>
          </p:txBody>
        </p:sp>
      </p:grpSp>
      <p:sp>
        <p:nvSpPr>
          <p:cNvPr id="36" name="Oval 42">
            <a:extLst>
              <a:ext uri="{FF2B5EF4-FFF2-40B4-BE49-F238E27FC236}">
                <a16:creationId xmlns:a16="http://schemas.microsoft.com/office/drawing/2014/main" id="{D58776E7-0CD1-36D1-1D42-2E0FE18B21AB}"/>
              </a:ext>
            </a:extLst>
          </p:cNvPr>
          <p:cNvSpPr/>
          <p:nvPr/>
        </p:nvSpPr>
        <p:spPr>
          <a:xfrm>
            <a:off x="112232" y="7186373"/>
            <a:ext cx="230668" cy="230668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  <p:sp>
        <p:nvSpPr>
          <p:cNvPr id="37" name="Date Placeholder 36">
            <a:extLst>
              <a:ext uri="{FF2B5EF4-FFF2-40B4-BE49-F238E27FC236}">
                <a16:creationId xmlns:a16="http://schemas.microsoft.com/office/drawing/2014/main" id="{D96B1829-EA55-7D81-1277-181B18E46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8AE64-B545-4CA1-94BC-7BDD0A8594CD}" type="datetime1">
              <a:rPr lang="hu-HU" smtClean="0"/>
              <a:t>2025-05-22</a:t>
            </a:fld>
            <a:endParaRPr lang="en-GB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439CBD3E-1357-52A2-6704-821CF4A3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385A8A39-15DD-4BB0-F6AC-74BC8DDE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879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33">
            <a:extLst>
              <a:ext uri="{FF2B5EF4-FFF2-40B4-BE49-F238E27FC236}">
                <a16:creationId xmlns:a16="http://schemas.microsoft.com/office/drawing/2014/main" id="{D248E04E-C9DE-3A24-5E63-25E80A5C1F2C}"/>
              </a:ext>
            </a:extLst>
          </p:cNvPr>
          <p:cNvCxnSpPr>
            <a:cxnSpLocks/>
          </p:cNvCxnSpPr>
          <p:nvPr/>
        </p:nvCxnSpPr>
        <p:spPr>
          <a:xfrm>
            <a:off x="227566" y="-102302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A4EB6CD-35E5-C8FC-5721-5C3A7254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hu-HU" noProof="0" dirty="0"/>
              <a:t>LLVM IR: </a:t>
            </a:r>
            <a:r>
              <a:rPr lang="hu-HU" noProof="0" dirty="0" err="1"/>
              <a:t>Closure</a:t>
            </a:r>
            <a:endParaRPr lang="hu-HU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1EEEE-8C1C-794C-0C57-909C80092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5431280" cy="4351338"/>
          </a:xfrm>
        </p:spPr>
        <p:txBody>
          <a:bodyPr/>
          <a:lstStyle/>
          <a:p>
            <a:r>
              <a:rPr lang="hu-HU" noProof="0" dirty="0"/>
              <a:t>Függvények hivatkozhatnak olyan értékekre, amelyik </a:t>
            </a:r>
            <a:r>
              <a:rPr lang="hu-HU" noProof="0" dirty="0" err="1"/>
              <a:t>elöttük</a:t>
            </a:r>
            <a:r>
              <a:rPr lang="hu-HU" noProof="0" dirty="0"/>
              <a:t> kerültek definiálásra</a:t>
            </a:r>
          </a:p>
          <a:p>
            <a:pPr lvl="1"/>
            <a:r>
              <a:rPr lang="hu-HU" noProof="0" dirty="0" err="1"/>
              <a:t>Closure</a:t>
            </a:r>
            <a:endParaRPr lang="hu-HU" noProof="0" dirty="0"/>
          </a:p>
          <a:p>
            <a:r>
              <a:rPr lang="hu-HU" noProof="0" dirty="0"/>
              <a:t>Híváskor kellenek</a:t>
            </a:r>
          </a:p>
          <a:p>
            <a:r>
              <a:rPr lang="hu-HU" noProof="0" dirty="0"/>
              <a:t>Kontextus paraméter</a:t>
            </a:r>
          </a:p>
          <a:p>
            <a:pPr lvl="1"/>
            <a:r>
              <a:rPr lang="hu-HU" noProof="0" dirty="0"/>
              <a:t>Tömb “paraméterekből”</a:t>
            </a:r>
          </a:p>
          <a:p>
            <a:pPr lvl="2"/>
            <a:r>
              <a:rPr lang="hu-HU" noProof="0" dirty="0"/>
              <a:t>Egyes mezők azonosan működnek, mint a lusta paraméterek (ld. előbb)</a:t>
            </a:r>
          </a:p>
          <a:p>
            <a:pPr lvl="1"/>
            <a:r>
              <a:rPr lang="hu-HU" noProof="0" dirty="0"/>
              <a:t>Hivatkozottsági sorrendben</a:t>
            </a:r>
          </a:p>
        </p:txBody>
      </p:sp>
      <p:sp>
        <p:nvSpPr>
          <p:cNvPr id="4" name="Oval 42">
            <a:extLst>
              <a:ext uri="{FF2B5EF4-FFF2-40B4-BE49-F238E27FC236}">
                <a16:creationId xmlns:a16="http://schemas.microsoft.com/office/drawing/2014/main" id="{6A2A5CB7-43DD-7BDD-E319-56A0F6990A94}"/>
              </a:ext>
            </a:extLst>
          </p:cNvPr>
          <p:cNvSpPr/>
          <p:nvPr/>
        </p:nvSpPr>
        <p:spPr>
          <a:xfrm>
            <a:off x="112232" y="912573"/>
            <a:ext cx="230668" cy="230668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215FB-5042-8FAE-3219-20055769F65A}"/>
              </a:ext>
            </a:extLst>
          </p:cNvPr>
          <p:cNvSpPr txBox="1"/>
          <p:nvPr/>
        </p:nvSpPr>
        <p:spPr>
          <a:xfrm>
            <a:off x="6124952" y="1831012"/>
            <a:ext cx="2390398" cy="2308324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solidFill>
                  <a:schemeClr val="accent5">
                    <a:lumMod val="75000"/>
                  </a:schemeClr>
                </a:solidFill>
                <a:latin typeface="IBM Plex Mono" panose="020B0509050203000203" pitchFamily="49" charset="0"/>
              </a:defRPr>
            </a:lvl1pPr>
          </a:lstStyle>
          <a:p>
            <a:r>
              <a:rPr lang="en-US" noProof="0" dirty="0"/>
              <a:t>let </a:t>
            </a:r>
            <a:r>
              <a:rPr lang="en-US" noProof="0" dirty="0">
                <a:solidFill>
                  <a:schemeClr val="tx1"/>
                </a:solidFill>
              </a:rPr>
              <a:t>x prompt </a:t>
            </a:r>
            <a:r>
              <a:rPr lang="en-US" noProof="0" dirty="0">
                <a:solidFill>
                  <a:schemeClr val="accent6">
                    <a:lumMod val="50000"/>
                  </a:schemeClr>
                </a:solidFill>
              </a:rPr>
              <a:t>"&gt;"</a:t>
            </a:r>
          </a:p>
          <a:p>
            <a:r>
              <a:rPr lang="en-US" noProof="0" dirty="0"/>
              <a:t>let </a:t>
            </a:r>
            <a:r>
              <a:rPr lang="en-US" noProof="0" dirty="0">
                <a:solidFill>
                  <a:schemeClr val="tx1"/>
                </a:solidFill>
              </a:rPr>
              <a:t>y x + 40</a:t>
            </a:r>
          </a:p>
          <a:p>
            <a:r>
              <a:rPr lang="en-US" dirty="0" err="1">
                <a:solidFill>
                  <a:schemeClr val="tx1"/>
                </a:solidFill>
              </a:rPr>
              <a:t>println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noProof="0" dirty="0">
                <a:solidFill>
                  <a:schemeClr val="accent6">
                    <a:lumMod val="50000"/>
                  </a:schemeClr>
                </a:solidFill>
              </a:rPr>
              <a:t>"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start</a:t>
            </a:r>
            <a:r>
              <a:rPr lang="en-US" noProof="0" dirty="0">
                <a:solidFill>
                  <a:schemeClr val="accent6">
                    <a:lumMod val="50000"/>
                  </a:schemeClr>
                </a:solidFill>
              </a:rPr>
              <a:t>"</a:t>
            </a:r>
          </a:p>
          <a:p>
            <a:r>
              <a:rPr lang="en-US" noProof="0" dirty="0"/>
              <a:t>let </a:t>
            </a:r>
            <a:r>
              <a:rPr lang="en-US" noProof="0" dirty="0">
                <a:solidFill>
                  <a:schemeClr val="tx1"/>
                </a:solidFill>
              </a:rPr>
              <a:t>f/1 { |x| </a:t>
            </a:r>
          </a:p>
          <a:p>
            <a:r>
              <a:rPr lang="en-US" noProof="0" dirty="0">
                <a:solidFill>
                  <a:schemeClr val="tx1"/>
                </a:solidFill>
              </a:rPr>
              <a:t>	</a:t>
            </a:r>
            <a:r>
              <a:rPr lang="en-US" noProof="0" dirty="0" err="1">
                <a:solidFill>
                  <a:schemeClr val="tx1"/>
                </a:solidFill>
              </a:rPr>
              <a:t>println</a:t>
            </a:r>
            <a:r>
              <a:rPr lang="en-US" noProof="0" dirty="0">
                <a:solidFill>
                  <a:schemeClr val="tx1"/>
                </a:solidFill>
              </a:rPr>
              <a:t> y</a:t>
            </a:r>
          </a:p>
          <a:p>
            <a:r>
              <a:rPr lang="en-US" noProof="0" dirty="0">
                <a:solidFill>
                  <a:schemeClr val="tx1"/>
                </a:solidFill>
              </a:rPr>
              <a:t>	x</a:t>
            </a:r>
          </a:p>
          <a:p>
            <a:r>
              <a:rPr lang="en-US" noProof="0" dirty="0">
                <a:solidFill>
                  <a:schemeClr val="tx1"/>
                </a:solidFill>
              </a:rPr>
              <a:t>}</a:t>
            </a:r>
          </a:p>
          <a:p>
            <a:r>
              <a:rPr lang="en-US" noProof="0" dirty="0" err="1">
                <a:solidFill>
                  <a:schemeClr val="tx1"/>
                </a:solidFill>
              </a:rPr>
              <a:t>println</a:t>
            </a:r>
            <a:r>
              <a:rPr lang="en-US" noProof="0" dirty="0">
                <a:solidFill>
                  <a:schemeClr val="tx1"/>
                </a:solidFill>
              </a:rPr>
              <a:t> f </a:t>
            </a:r>
            <a:r>
              <a:rPr lang="en-US" noProof="0" dirty="0">
                <a:solidFill>
                  <a:schemeClr val="accent6">
                    <a:lumMod val="50000"/>
                  </a:schemeClr>
                </a:solidFill>
              </a:rPr>
              <a:t>"</a:t>
            </a:r>
            <a:r>
              <a:rPr lang="en-US" noProof="0" dirty="0" err="1">
                <a:solidFill>
                  <a:schemeClr val="accent6">
                    <a:lumMod val="50000"/>
                  </a:schemeClr>
                </a:solidFill>
              </a:rPr>
              <a:t>kint</a:t>
            </a:r>
            <a:r>
              <a:rPr lang="en-US" noProof="0" dirty="0">
                <a:solidFill>
                  <a:schemeClr val="accent6">
                    <a:lumMod val="50000"/>
                  </a:schemeClr>
                </a:solidFill>
              </a:rPr>
              <a:t>"</a:t>
            </a:r>
          </a:p>
        </p:txBody>
      </p:sp>
      <p:grpSp>
        <p:nvGrpSpPr>
          <p:cNvPr id="7" name="Csoportba foglalás 3">
            <a:extLst>
              <a:ext uri="{FF2B5EF4-FFF2-40B4-BE49-F238E27FC236}">
                <a16:creationId xmlns:a16="http://schemas.microsoft.com/office/drawing/2014/main" id="{9F903F46-361E-ED8D-5A2A-308281F2F0EB}"/>
              </a:ext>
            </a:extLst>
          </p:cNvPr>
          <p:cNvGrpSpPr/>
          <p:nvPr/>
        </p:nvGrpSpPr>
        <p:grpSpPr>
          <a:xfrm>
            <a:off x="112232" y="-624127"/>
            <a:ext cx="230668" cy="230668"/>
            <a:chOff x="112232" y="912573"/>
            <a:chExt cx="230668" cy="230668"/>
          </a:xfrm>
        </p:grpSpPr>
        <p:sp>
          <p:nvSpPr>
            <p:cNvPr id="8" name="Oval 41">
              <a:extLst>
                <a:ext uri="{FF2B5EF4-FFF2-40B4-BE49-F238E27FC236}">
                  <a16:creationId xmlns:a16="http://schemas.microsoft.com/office/drawing/2014/main" id="{184C333B-DD71-C190-8DAC-A54F63D98C69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9" name="Oval 41">
              <a:extLst>
                <a:ext uri="{FF2B5EF4-FFF2-40B4-BE49-F238E27FC236}">
                  <a16:creationId xmlns:a16="http://schemas.microsoft.com/office/drawing/2014/main" id="{9DE63511-23EA-E185-DB8A-4A5EC436B44E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0" name="Oval 41">
              <a:extLst>
                <a:ext uri="{FF2B5EF4-FFF2-40B4-BE49-F238E27FC236}">
                  <a16:creationId xmlns:a16="http://schemas.microsoft.com/office/drawing/2014/main" id="{FEFECAFE-0DC8-09B2-8F8C-6B85AD32C2A1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</p:grpSp>
      <p:grpSp>
        <p:nvGrpSpPr>
          <p:cNvPr id="11" name="Csoportba foglalás 6">
            <a:extLst>
              <a:ext uri="{FF2B5EF4-FFF2-40B4-BE49-F238E27FC236}">
                <a16:creationId xmlns:a16="http://schemas.microsoft.com/office/drawing/2014/main" id="{98E2404B-C736-7AB8-6317-F268DDF2ABA5}"/>
              </a:ext>
            </a:extLst>
          </p:cNvPr>
          <p:cNvGrpSpPr/>
          <p:nvPr/>
        </p:nvGrpSpPr>
        <p:grpSpPr>
          <a:xfrm>
            <a:off x="112232" y="7462144"/>
            <a:ext cx="230668" cy="230668"/>
            <a:chOff x="112232" y="912573"/>
            <a:chExt cx="230668" cy="230668"/>
          </a:xfrm>
        </p:grpSpPr>
        <p:sp>
          <p:nvSpPr>
            <p:cNvPr id="12" name="Oval 42">
              <a:extLst>
                <a:ext uri="{FF2B5EF4-FFF2-40B4-BE49-F238E27FC236}">
                  <a16:creationId xmlns:a16="http://schemas.microsoft.com/office/drawing/2014/main" id="{E48E69E6-2ED6-AE90-EB1F-EC75CF2FFC9C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13" name="Oval 42">
              <a:extLst>
                <a:ext uri="{FF2B5EF4-FFF2-40B4-BE49-F238E27FC236}">
                  <a16:creationId xmlns:a16="http://schemas.microsoft.com/office/drawing/2014/main" id="{401C4097-29CE-797A-908D-7FAE8BA9B0B7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350" noProof="0" dirty="0">
                  <a:solidFill>
                    <a:srgbClr val="01161E"/>
                  </a:solidFill>
                </a:rPr>
                <a:t>?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062D3A2-50F5-FE38-DA63-33A66E57EA1A}"/>
              </a:ext>
            </a:extLst>
          </p:cNvPr>
          <p:cNvSpPr/>
          <p:nvPr/>
        </p:nvSpPr>
        <p:spPr>
          <a:xfrm>
            <a:off x="7626285" y="3007753"/>
            <a:ext cx="207389" cy="28280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2DD2D9-A204-C63E-57F2-05F571FF347C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6865620" y="2354580"/>
            <a:ext cx="864360" cy="65317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614B4EA-E84D-8516-502F-FD19F4AE8B75}"/>
              </a:ext>
            </a:extLst>
          </p:cNvPr>
          <p:cNvSpPr txBox="1"/>
          <p:nvPr/>
        </p:nvSpPr>
        <p:spPr>
          <a:xfrm>
            <a:off x="6517989" y="4352925"/>
            <a:ext cx="1604324" cy="120032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58775" algn="l"/>
              </a:tabLst>
              <a:defRPr>
                <a:solidFill>
                  <a:schemeClr val="accent5">
                    <a:lumMod val="75000"/>
                  </a:schemeClr>
                </a:solidFill>
                <a:latin typeface="IBM Plex Mono" panose="020B0509050203000203" pitchFamily="49" charset="0"/>
              </a:defRPr>
            </a:lvl1pPr>
          </a:lstStyle>
          <a:p>
            <a:r>
              <a:rPr lang="hu-HU" dirty="0">
                <a:solidFill>
                  <a:schemeClr val="tx1"/>
                </a:solidFill>
              </a:rPr>
              <a:t>start</a:t>
            </a:r>
          </a:p>
          <a:p>
            <a:r>
              <a:rPr lang="hu-HU" dirty="0">
                <a:solidFill>
                  <a:schemeClr val="tx1"/>
                </a:solidFill>
              </a:rPr>
              <a:t>&gt; 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2</a:t>
            </a:r>
          </a:p>
          <a:p>
            <a:r>
              <a:rPr lang="hu-HU" dirty="0">
                <a:solidFill>
                  <a:schemeClr val="tx1"/>
                </a:solidFill>
              </a:rPr>
              <a:t>42</a:t>
            </a:r>
          </a:p>
          <a:p>
            <a:r>
              <a:rPr lang="hu-HU" dirty="0">
                <a:solidFill>
                  <a:schemeClr val="tx1"/>
                </a:solidFill>
              </a:rPr>
              <a:t>kint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DE31AE-7156-AEA3-5C4E-8C0F9E4B778E}"/>
              </a:ext>
            </a:extLst>
          </p:cNvPr>
          <p:cNvSpPr/>
          <p:nvPr/>
        </p:nvSpPr>
        <p:spPr>
          <a:xfrm>
            <a:off x="7001445" y="2183238"/>
            <a:ext cx="207389" cy="2176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EA61C3-59BF-FF9F-DE6F-2EC29226FBDF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6865620" y="2071776"/>
            <a:ext cx="239520" cy="11146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51DCDC26-A1AB-80E2-822E-80904F85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4FC2-3745-4F29-B944-4FFF1F7A9176}" type="datetime1">
              <a:rPr lang="hu-HU" smtClean="0"/>
              <a:t>2025-05-22</a:t>
            </a:fld>
            <a:endParaRPr lang="en-GB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9D6377C-77A8-3B83-7E95-A44307A2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E60DD6E3-0435-AA7A-3FD0-08434D1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173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33">
            <a:extLst>
              <a:ext uri="{FF2B5EF4-FFF2-40B4-BE49-F238E27FC236}">
                <a16:creationId xmlns:a16="http://schemas.microsoft.com/office/drawing/2014/main" id="{190A14A7-0180-76DC-AE59-67A974E7B149}"/>
              </a:ext>
            </a:extLst>
          </p:cNvPr>
          <p:cNvCxnSpPr>
            <a:cxnSpLocks/>
          </p:cNvCxnSpPr>
          <p:nvPr/>
        </p:nvCxnSpPr>
        <p:spPr>
          <a:xfrm>
            <a:off x="227566" y="-6401507"/>
            <a:ext cx="0" cy="7435437"/>
          </a:xfrm>
          <a:prstGeom prst="line">
            <a:avLst/>
          </a:prstGeom>
          <a:ln w="76200">
            <a:solidFill>
              <a:srgbClr val="011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ím 1">
            <a:extLst>
              <a:ext uri="{FF2B5EF4-FFF2-40B4-BE49-F238E27FC236}">
                <a16:creationId xmlns:a16="http://schemas.microsoft.com/office/drawing/2014/main" id="{8E4F9852-19D9-812E-E755-9313E19B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/>
              <a:t>Kérdések?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D44B2C-4D6C-0749-6EB1-9E9077A8D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/>
              <a:t>C4 nyelv</a:t>
            </a:r>
          </a:p>
          <a:p>
            <a:pPr lvl="1"/>
            <a:r>
              <a:rPr lang="hu-HU" noProof="0" dirty="0"/>
              <a:t>LISP-ek</a:t>
            </a:r>
          </a:p>
          <a:p>
            <a:pPr lvl="1"/>
            <a:r>
              <a:rPr lang="hu-HU" noProof="0" dirty="0"/>
              <a:t>Minden függvény</a:t>
            </a:r>
          </a:p>
          <a:p>
            <a:pPr lvl="1"/>
            <a:r>
              <a:rPr lang="hu-HU" noProof="0" dirty="0"/>
              <a:t>Szemantika</a:t>
            </a:r>
          </a:p>
          <a:p>
            <a:r>
              <a:rPr lang="hu-HU" noProof="0" dirty="0"/>
              <a:t>LLVM &amp; LLVM IR</a:t>
            </a:r>
          </a:p>
          <a:p>
            <a:pPr lvl="1"/>
            <a:r>
              <a:rPr lang="hu-HU" noProof="0" dirty="0"/>
              <a:t>Előnyök</a:t>
            </a:r>
          </a:p>
          <a:p>
            <a:pPr lvl="1"/>
            <a:r>
              <a:rPr lang="hu-HU" noProof="0" dirty="0"/>
              <a:t>Lustaság </a:t>
            </a:r>
          </a:p>
          <a:p>
            <a:pPr lvl="1"/>
            <a:r>
              <a:rPr lang="hu-HU" noProof="0" dirty="0" err="1"/>
              <a:t>Closure</a:t>
            </a:r>
            <a:endParaRPr lang="hu-HU" noProof="0" dirty="0"/>
          </a:p>
        </p:txBody>
      </p:sp>
      <p:grpSp>
        <p:nvGrpSpPr>
          <p:cNvPr id="4" name="Csoportba foglalás 6">
            <a:extLst>
              <a:ext uri="{FF2B5EF4-FFF2-40B4-BE49-F238E27FC236}">
                <a16:creationId xmlns:a16="http://schemas.microsoft.com/office/drawing/2014/main" id="{A9EEBF41-169E-46F1-53A9-83D834DE03F6}"/>
              </a:ext>
            </a:extLst>
          </p:cNvPr>
          <p:cNvGrpSpPr/>
          <p:nvPr/>
        </p:nvGrpSpPr>
        <p:grpSpPr>
          <a:xfrm>
            <a:off x="112232" y="912573"/>
            <a:ext cx="230668" cy="230668"/>
            <a:chOff x="112232" y="912573"/>
            <a:chExt cx="230668" cy="230668"/>
          </a:xfrm>
        </p:grpSpPr>
        <p:sp>
          <p:nvSpPr>
            <p:cNvPr id="5" name="Oval 42">
              <a:extLst>
                <a:ext uri="{FF2B5EF4-FFF2-40B4-BE49-F238E27FC236}">
                  <a16:creationId xmlns:a16="http://schemas.microsoft.com/office/drawing/2014/main" id="{35A32405-07FD-9F6B-1380-B7802D7CD567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350" noProof="0" dirty="0">
                <a:solidFill>
                  <a:srgbClr val="01161E"/>
                </a:solidFill>
              </a:endParaRPr>
            </a:p>
          </p:txBody>
        </p:sp>
        <p:sp>
          <p:nvSpPr>
            <p:cNvPr id="6" name="Oval 42">
              <a:extLst>
                <a:ext uri="{FF2B5EF4-FFF2-40B4-BE49-F238E27FC236}">
                  <a16:creationId xmlns:a16="http://schemas.microsoft.com/office/drawing/2014/main" id="{DCB52AAB-8EF6-E3BD-DE77-C8B718E6598F}"/>
                </a:ext>
              </a:extLst>
            </p:cNvPr>
            <p:cNvSpPr/>
            <p:nvPr/>
          </p:nvSpPr>
          <p:spPr>
            <a:xfrm>
              <a:off x="112232" y="912573"/>
              <a:ext cx="230668" cy="230668"/>
            </a:xfrm>
            <a:prstGeom prst="ellipse">
              <a:avLst/>
            </a:prstGeom>
            <a:solidFill>
              <a:srgbClr val="EFF6E0"/>
            </a:solidFill>
            <a:ln w="57150">
              <a:solidFill>
                <a:srgbClr val="0116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350" noProof="0" dirty="0">
                  <a:solidFill>
                    <a:srgbClr val="01161E"/>
                  </a:solidFill>
                </a:rPr>
                <a:t>?</a:t>
              </a:r>
            </a:p>
          </p:txBody>
        </p:sp>
      </p:grpSp>
      <p:sp>
        <p:nvSpPr>
          <p:cNvPr id="8" name="Oval 42">
            <a:extLst>
              <a:ext uri="{FF2B5EF4-FFF2-40B4-BE49-F238E27FC236}">
                <a16:creationId xmlns:a16="http://schemas.microsoft.com/office/drawing/2014/main" id="{70C08B71-C755-D7B9-3A01-337999CCC802}"/>
              </a:ext>
            </a:extLst>
          </p:cNvPr>
          <p:cNvSpPr/>
          <p:nvPr/>
        </p:nvSpPr>
        <p:spPr>
          <a:xfrm>
            <a:off x="112232" y="-2973627"/>
            <a:ext cx="230668" cy="230668"/>
          </a:xfrm>
          <a:prstGeom prst="ellipse">
            <a:avLst/>
          </a:prstGeom>
          <a:solidFill>
            <a:srgbClr val="EFF6E0"/>
          </a:solidFill>
          <a:ln w="57150">
            <a:solidFill>
              <a:srgbClr val="0116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 noProof="0" dirty="0">
              <a:solidFill>
                <a:srgbClr val="01161E"/>
              </a:solidFill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60B1D53-2610-8D09-A804-CDD00C39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3F49-A8ED-42EB-9C91-DA6F8B65B65E}" type="datetime1">
              <a:rPr lang="hu-HU" smtClean="0"/>
              <a:t>2025-05-22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5F36737-9EA9-DEE3-0FFD-2E7B07143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Fordítóprogramok -- C4 nyelv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7CDAED-82FE-52DF-E128-626C6E86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0E00-C5E1-434B-B5EB-CA0CD3E6EDF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548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lex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A675E32E-2B7D-4888-903B-EDAFA3F20109}" vid="{77009743-6FDF-4847-8C6A-5450FAB682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244</TotalTime>
  <Words>1047</Words>
  <Application>Microsoft Office PowerPoint</Application>
  <PresentationFormat>On-screen Show (4:3)</PresentationFormat>
  <Paragraphs>244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Courier New</vt:lpstr>
      <vt:lpstr>IBM Plex Mono</vt:lpstr>
      <vt:lpstr>IBM Plex Sans</vt:lpstr>
      <vt:lpstr>Theme1</vt:lpstr>
      <vt:lpstr>Fordítóprogramok készítése</vt:lpstr>
      <vt:lpstr>Célok</vt:lpstr>
      <vt:lpstr>PowerPoint Presentation</vt:lpstr>
      <vt:lpstr>C4 nyelv</vt:lpstr>
      <vt:lpstr>C4 nyelv</vt:lpstr>
      <vt:lpstr>C4 nyelv</vt:lpstr>
      <vt:lpstr>C4 nyelv</vt:lpstr>
      <vt:lpstr>C4 nyelv</vt:lpstr>
      <vt:lpstr>C4 nyelv</vt:lpstr>
      <vt:lpstr>C4 nyelv</vt:lpstr>
      <vt:lpstr>C4 nyelv II</vt:lpstr>
      <vt:lpstr>Fordítás</vt:lpstr>
      <vt:lpstr>LLVM Internal Representation</vt:lpstr>
      <vt:lpstr>LLVM IR: Lustaság</vt:lpstr>
      <vt:lpstr>LLVM IR: Lustaság</vt:lpstr>
      <vt:lpstr>LLVM IR: Closure</vt:lpstr>
      <vt:lpstr>Kérdések?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Bodor András</dc:creator>
  <cp:lastModifiedBy>Bodor András</cp:lastModifiedBy>
  <cp:revision>193</cp:revision>
  <dcterms:created xsi:type="dcterms:W3CDTF">2025-05-21T13:56:26Z</dcterms:created>
  <dcterms:modified xsi:type="dcterms:W3CDTF">2025-05-22T16:38:10Z</dcterms:modified>
</cp:coreProperties>
</file>